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Scripter" charset="1" panose="00000000000000000000"/>
      <p:regular r:id="rId18"/>
    </p:embeddedFont>
    <p:embeddedFont>
      <p:font typeface="Cocomat Pro Bold" charset="1" panose="000007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MI CAFETERIA</a:t>
            </a:r>
          </a:p>
          <a:p>
            <a:r>
              <a:rPr lang="en-US"/>
              <a:t/>
            </a:r>
          </a:p>
          <a:p>
            <a:r>
              <a:rPr lang="en-US"/>
              <a:t>PROYECTO PERSONAL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slide2.xml" Type="http://schemas.openxmlformats.org/officeDocument/2006/relationships/slid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slide3.xml" Type="http://schemas.openxmlformats.org/officeDocument/2006/relationships/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1.xml" Type="http://schemas.openxmlformats.org/officeDocument/2006/relationships/slide"/><Relationship Id="rId6" Target="slide3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2.xml" Type="http://schemas.openxmlformats.org/officeDocument/2006/relationships/slide"/><Relationship Id="rId11" Target="slide4.xml" Type="http://schemas.openxmlformats.org/officeDocument/2006/relationships/slid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3.xml" Type="http://schemas.openxmlformats.org/officeDocument/2006/relationships/slide"/><Relationship Id="rId6" Target="slide5.xml" Type="http://schemas.openxmlformats.org/officeDocument/2006/relationships/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4.xml" Type="http://schemas.openxmlformats.org/officeDocument/2006/relationships/slide"/><Relationship Id="rId6" Target="slide6.xml" Type="http://schemas.openxmlformats.org/officeDocument/2006/relationships/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5.xml" Type="http://schemas.openxmlformats.org/officeDocument/2006/relationships/slide"/><Relationship Id="rId6" Target="slide7.xml" Type="http://schemas.openxmlformats.org/officeDocument/2006/relationships/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6.xml" Type="http://schemas.openxmlformats.org/officeDocument/2006/relationships/slide"/><Relationship Id="rId6" Target="slide8.xml" Type="http://schemas.openxmlformats.org/officeDocument/2006/relationships/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7.xml" Type="http://schemas.openxmlformats.org/officeDocument/2006/relationships/slide"/><Relationship Id="rId6" Target="slide9.xml" Type="http://schemas.openxmlformats.org/officeDocument/2006/relationships/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8.xml" Type="http://schemas.openxmlformats.org/officeDocument/2006/relationships/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2470" y="841890"/>
            <a:ext cx="5818844" cy="8161091"/>
          </a:xfrm>
          <a:custGeom>
            <a:avLst/>
            <a:gdLst/>
            <a:ahLst/>
            <a:cxnLst/>
            <a:rect r="r" b="b" t="t" l="l"/>
            <a:pathLst>
              <a:path h="8161091" w="5818844">
                <a:moveTo>
                  <a:pt x="0" y="0"/>
                </a:moveTo>
                <a:lnTo>
                  <a:pt x="5818844" y="0"/>
                </a:lnTo>
                <a:lnTo>
                  <a:pt x="5818844" y="8161091"/>
                </a:lnTo>
                <a:lnTo>
                  <a:pt x="0" y="8161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225" b="0"/>
            </a:stretch>
          </a:blipFill>
        </p:spPr>
      </p:sp>
      <p:sp>
        <p:nvSpPr>
          <p:cNvPr name="Freeform 3" id="3">
            <a:hlinkClick r:id="rId6" action="ppaction://hlinksldjump"/>
          </p:cNvPr>
          <p:cNvSpPr/>
          <p:nvPr/>
        </p:nvSpPr>
        <p:spPr>
          <a:xfrm flipH="false" flipV="false" rot="0">
            <a:off x="10380522" y="7627978"/>
            <a:ext cx="1289628" cy="1289628"/>
          </a:xfrm>
          <a:custGeom>
            <a:avLst/>
            <a:gdLst/>
            <a:ahLst/>
            <a:cxnLst/>
            <a:rect r="r" b="b" t="t" l="l"/>
            <a:pathLst>
              <a:path h="1289628" w="1289628">
                <a:moveTo>
                  <a:pt x="0" y="0"/>
                </a:moveTo>
                <a:lnTo>
                  <a:pt x="1289629" y="0"/>
                </a:lnTo>
                <a:lnTo>
                  <a:pt x="1289629" y="1289628"/>
                </a:lnTo>
                <a:lnTo>
                  <a:pt x="0" y="1289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>
            <a:hlinkClick r:id="rId9" action="ppaction://hlinksldjump"/>
          </p:cNvPr>
          <p:cNvSpPr/>
          <p:nvPr/>
        </p:nvSpPr>
        <p:spPr>
          <a:xfrm flipH="false" flipV="false" rot="0">
            <a:off x="12981249" y="7627978"/>
            <a:ext cx="1872111" cy="1375003"/>
          </a:xfrm>
          <a:custGeom>
            <a:avLst/>
            <a:gdLst/>
            <a:ahLst/>
            <a:cxnLst/>
            <a:rect r="r" b="b" t="t" l="l"/>
            <a:pathLst>
              <a:path h="1375003" w="1872111">
                <a:moveTo>
                  <a:pt x="0" y="0"/>
                </a:moveTo>
                <a:lnTo>
                  <a:pt x="1872111" y="0"/>
                </a:lnTo>
                <a:lnTo>
                  <a:pt x="1872111" y="1375003"/>
                </a:lnTo>
                <a:lnTo>
                  <a:pt x="0" y="13750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0" y="4461566"/>
            <a:ext cx="6224885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BY Marianela felipe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76466" y="1848258"/>
            <a:ext cx="10744646" cy="147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6"/>
              </a:lnSpc>
              <a:spcBef>
                <a:spcPct val="0"/>
              </a:spcBef>
            </a:pPr>
            <a:r>
              <a:rPr lang="en-US" sz="8190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11:11 café de especialidad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29914" y="5859368"/>
            <a:ext cx="3887391" cy="842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4"/>
              </a:lnSpc>
              <a:spcBef>
                <a:spcPct val="0"/>
              </a:spcBef>
            </a:pPr>
            <a:r>
              <a:rPr lang="en-US" sz="4703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comision: 89215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7281" y="1028700"/>
            <a:ext cx="4394986" cy="7836528"/>
          </a:xfrm>
          <a:custGeom>
            <a:avLst/>
            <a:gdLst/>
            <a:ahLst/>
            <a:cxnLst/>
            <a:rect r="r" b="b" t="t" l="l"/>
            <a:pathLst>
              <a:path h="7836528" w="4394986">
                <a:moveTo>
                  <a:pt x="0" y="0"/>
                </a:moveTo>
                <a:lnTo>
                  <a:pt x="4394986" y="0"/>
                </a:lnTo>
                <a:lnTo>
                  <a:pt x="4394986" y="7836528"/>
                </a:lnTo>
                <a:lnTo>
                  <a:pt x="0" y="7836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38990" y="2728442"/>
            <a:ext cx="12884160" cy="5729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4"/>
              </a:lnSpc>
              <a:spcBef>
                <a:spcPct val="0"/>
              </a:spcBef>
            </a:pPr>
            <a:r>
              <a:rPr lang="en-US" b="true" sz="353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Es una base de datos de ventas de café de especialidad.  Consta de entidades, campos y registros acordes al modelo de negocio elegido. La finalidad del proyecto es manejar un eficiente control de stock de café y pastelería, arqueo de caja con apertura y cierre correctos, que la modificación/aumento de precios sea eficiente y sin intervención del DBA. En principio contiene 4 entidades con 1 tabla intermedia, cada una con sus atributos correspondientes y la cardinalidad.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24499" y="139462"/>
            <a:ext cx="3756571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desafío 11:11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38990" y="1453438"/>
            <a:ext cx="7592913" cy="9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303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descripción de la temática</a:t>
            </a:r>
          </a:p>
        </p:txBody>
      </p:sp>
      <p:sp>
        <p:nvSpPr>
          <p:cNvPr name="Freeform 6" id="6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40771" y="1346805"/>
            <a:ext cx="1690070" cy="888055"/>
          </a:xfrm>
          <a:custGeom>
            <a:avLst/>
            <a:gdLst/>
            <a:ahLst/>
            <a:cxnLst/>
            <a:rect r="r" b="b" t="t" l="l"/>
            <a:pathLst>
              <a:path h="888055" w="1690070">
                <a:moveTo>
                  <a:pt x="0" y="0"/>
                </a:moveTo>
                <a:lnTo>
                  <a:pt x="1690069" y="0"/>
                </a:lnTo>
                <a:lnTo>
                  <a:pt x="1690069" y="888055"/>
                </a:lnTo>
                <a:lnTo>
                  <a:pt x="0" y="888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5510048" y="3972923"/>
            <a:ext cx="121270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756769" y="3245932"/>
            <a:ext cx="1979307" cy="989999"/>
          </a:xfrm>
          <a:custGeom>
            <a:avLst/>
            <a:gdLst/>
            <a:ahLst/>
            <a:cxnLst/>
            <a:rect r="r" b="b" t="t" l="l"/>
            <a:pathLst>
              <a:path h="989999" w="1979307">
                <a:moveTo>
                  <a:pt x="0" y="0"/>
                </a:moveTo>
                <a:lnTo>
                  <a:pt x="1979307" y="0"/>
                </a:lnTo>
                <a:lnTo>
                  <a:pt x="1979307" y="989999"/>
                </a:lnTo>
                <a:lnTo>
                  <a:pt x="0" y="9899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11861" y="3519844"/>
            <a:ext cx="3869123" cy="34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6"/>
              </a:lnSpc>
              <a:spcBef>
                <a:spcPct val="0"/>
              </a:spcBef>
            </a:pPr>
            <a:r>
              <a:rPr lang="en-US" b="true" sz="196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id_ventas (PK)</a:t>
            </a:r>
          </a:p>
        </p:txBody>
      </p:sp>
      <p:sp>
        <p:nvSpPr>
          <p:cNvPr name="AutoShape 6" id="6"/>
          <p:cNvSpPr/>
          <p:nvPr/>
        </p:nvSpPr>
        <p:spPr>
          <a:xfrm>
            <a:off x="5462390" y="5313677"/>
            <a:ext cx="121270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3756769" y="4515848"/>
            <a:ext cx="2042649" cy="1021681"/>
          </a:xfrm>
          <a:custGeom>
            <a:avLst/>
            <a:gdLst/>
            <a:ahLst/>
            <a:cxnLst/>
            <a:rect r="r" b="b" t="t" l="l"/>
            <a:pathLst>
              <a:path h="1021681" w="2042649">
                <a:moveTo>
                  <a:pt x="0" y="0"/>
                </a:moveTo>
                <a:lnTo>
                  <a:pt x="2042649" y="0"/>
                </a:lnTo>
                <a:lnTo>
                  <a:pt x="2042649" y="1021681"/>
                </a:lnTo>
                <a:lnTo>
                  <a:pt x="0" y="1021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11861" y="4823317"/>
            <a:ext cx="3869123" cy="35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3"/>
              </a:lnSpc>
              <a:spcBef>
                <a:spcPct val="0"/>
              </a:spcBef>
            </a:pPr>
            <a:r>
              <a:rPr lang="en-US" b="true" sz="20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id_cliente (FK)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11928" y="2812019"/>
            <a:ext cx="1819806" cy="956226"/>
          </a:xfrm>
          <a:custGeom>
            <a:avLst/>
            <a:gdLst/>
            <a:ahLst/>
            <a:cxnLst/>
            <a:rect r="r" b="b" t="t" l="l"/>
            <a:pathLst>
              <a:path h="956226" w="1819806">
                <a:moveTo>
                  <a:pt x="0" y="0"/>
                </a:moveTo>
                <a:lnTo>
                  <a:pt x="1819806" y="0"/>
                </a:lnTo>
                <a:lnTo>
                  <a:pt x="1819806" y="956226"/>
                </a:lnTo>
                <a:lnTo>
                  <a:pt x="0" y="95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4566448" y="667434"/>
            <a:ext cx="913417" cy="72572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974107" y="1216193"/>
            <a:ext cx="1819806" cy="956226"/>
          </a:xfrm>
          <a:custGeom>
            <a:avLst/>
            <a:gdLst/>
            <a:ahLst/>
            <a:cxnLst/>
            <a:rect r="r" b="b" t="t" l="l"/>
            <a:pathLst>
              <a:path h="956226" w="1819806">
                <a:moveTo>
                  <a:pt x="0" y="0"/>
                </a:moveTo>
                <a:lnTo>
                  <a:pt x="1819806" y="0"/>
                </a:lnTo>
                <a:lnTo>
                  <a:pt x="1819806" y="956225"/>
                </a:lnTo>
                <a:lnTo>
                  <a:pt x="0" y="956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945481" y="1617415"/>
            <a:ext cx="1819806" cy="956226"/>
          </a:xfrm>
          <a:custGeom>
            <a:avLst/>
            <a:gdLst/>
            <a:ahLst/>
            <a:cxnLst/>
            <a:rect r="r" b="b" t="t" l="l"/>
            <a:pathLst>
              <a:path h="956226" w="1819806">
                <a:moveTo>
                  <a:pt x="0" y="0"/>
                </a:moveTo>
                <a:lnTo>
                  <a:pt x="1819807" y="0"/>
                </a:lnTo>
                <a:lnTo>
                  <a:pt x="1819807" y="956226"/>
                </a:lnTo>
                <a:lnTo>
                  <a:pt x="0" y="95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54956" y="3245932"/>
            <a:ext cx="1979307" cy="989999"/>
          </a:xfrm>
          <a:custGeom>
            <a:avLst/>
            <a:gdLst/>
            <a:ahLst/>
            <a:cxnLst/>
            <a:rect r="r" b="b" t="t" l="l"/>
            <a:pathLst>
              <a:path h="989999" w="1979307">
                <a:moveTo>
                  <a:pt x="0" y="0"/>
                </a:moveTo>
                <a:lnTo>
                  <a:pt x="1979307" y="0"/>
                </a:lnTo>
                <a:lnTo>
                  <a:pt x="1979307" y="989999"/>
                </a:lnTo>
                <a:lnTo>
                  <a:pt x="0" y="9899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54956" y="4515848"/>
            <a:ext cx="1979307" cy="989999"/>
          </a:xfrm>
          <a:custGeom>
            <a:avLst/>
            <a:gdLst/>
            <a:ahLst/>
            <a:cxnLst/>
            <a:rect r="r" b="b" t="t" l="l"/>
            <a:pathLst>
              <a:path h="989999" w="1979307">
                <a:moveTo>
                  <a:pt x="0" y="0"/>
                </a:moveTo>
                <a:lnTo>
                  <a:pt x="1979307" y="0"/>
                </a:lnTo>
                <a:lnTo>
                  <a:pt x="1979307" y="989999"/>
                </a:lnTo>
                <a:lnTo>
                  <a:pt x="0" y="9899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9141673" y="3740932"/>
            <a:ext cx="426360" cy="1904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5510048" y="3506969"/>
            <a:ext cx="3869123" cy="38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0"/>
              </a:lnSpc>
              <a:spcBef>
                <a:spcPct val="0"/>
              </a:spcBef>
            </a:pPr>
            <a:r>
              <a:rPr lang="en-US" b="true" sz="2157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producto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10048" y="4839486"/>
            <a:ext cx="3869123" cy="35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3"/>
              </a:lnSpc>
              <a:spcBef>
                <a:spcPct val="0"/>
              </a:spcBef>
            </a:pPr>
            <a:r>
              <a:rPr lang="en-US" b="true" sz="20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importe_total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608271" y="7439611"/>
            <a:ext cx="1979307" cy="989999"/>
          </a:xfrm>
          <a:custGeom>
            <a:avLst/>
            <a:gdLst/>
            <a:ahLst/>
            <a:cxnLst/>
            <a:rect r="r" b="b" t="t" l="l"/>
            <a:pathLst>
              <a:path h="989999" w="1979307">
                <a:moveTo>
                  <a:pt x="0" y="0"/>
                </a:moveTo>
                <a:lnTo>
                  <a:pt x="1979307" y="0"/>
                </a:lnTo>
                <a:lnTo>
                  <a:pt x="1979307" y="989999"/>
                </a:lnTo>
                <a:lnTo>
                  <a:pt x="0" y="9899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86893" y="5879634"/>
            <a:ext cx="2021009" cy="1010857"/>
          </a:xfrm>
          <a:custGeom>
            <a:avLst/>
            <a:gdLst/>
            <a:ahLst/>
            <a:cxnLst/>
            <a:rect r="r" b="b" t="t" l="l"/>
            <a:pathLst>
              <a:path h="1010857" w="2021009">
                <a:moveTo>
                  <a:pt x="0" y="0"/>
                </a:moveTo>
                <a:lnTo>
                  <a:pt x="2021010" y="0"/>
                </a:lnTo>
                <a:lnTo>
                  <a:pt x="2021010" y="1010857"/>
                </a:lnTo>
                <a:lnTo>
                  <a:pt x="0" y="1010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441853" y="4058017"/>
            <a:ext cx="2021009" cy="1010857"/>
          </a:xfrm>
          <a:custGeom>
            <a:avLst/>
            <a:gdLst/>
            <a:ahLst/>
            <a:cxnLst/>
            <a:rect r="r" b="b" t="t" l="l"/>
            <a:pathLst>
              <a:path h="1010857" w="2021009">
                <a:moveTo>
                  <a:pt x="0" y="0"/>
                </a:moveTo>
                <a:lnTo>
                  <a:pt x="2021009" y="0"/>
                </a:lnTo>
                <a:lnTo>
                  <a:pt x="2021009" y="1010857"/>
                </a:lnTo>
                <a:lnTo>
                  <a:pt x="0" y="1010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-37163" y="6194549"/>
            <a:ext cx="3869123" cy="34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6"/>
              </a:lnSpc>
              <a:spcBef>
                <a:spcPct val="0"/>
              </a:spcBef>
            </a:pPr>
            <a:r>
              <a:rPr lang="en-US" b="true" sz="196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nombre_apellido</a:t>
            </a:r>
          </a:p>
        </p:txBody>
      </p:sp>
      <p:sp>
        <p:nvSpPr>
          <p:cNvPr name="AutoShape 22" id="22"/>
          <p:cNvSpPr/>
          <p:nvPr/>
        </p:nvSpPr>
        <p:spPr>
          <a:xfrm flipV="true">
            <a:off x="273430" y="4927612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813531" y="4315492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6"/>
                </a:lnTo>
                <a:lnTo>
                  <a:pt x="0" y="1084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-110526" y="4658652"/>
            <a:ext cx="3869123" cy="35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3"/>
              </a:lnSpc>
              <a:spcBef>
                <a:spcPct val="0"/>
              </a:spcBef>
            </a:pPr>
            <a:r>
              <a:rPr lang="en-US" b="true" sz="20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id_cliente (PK)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441853" y="2696065"/>
            <a:ext cx="2021009" cy="1010857"/>
          </a:xfrm>
          <a:custGeom>
            <a:avLst/>
            <a:gdLst/>
            <a:ahLst/>
            <a:cxnLst/>
            <a:rect r="r" b="b" t="t" l="l"/>
            <a:pathLst>
              <a:path h="1010857" w="2021009">
                <a:moveTo>
                  <a:pt x="0" y="0"/>
                </a:moveTo>
                <a:lnTo>
                  <a:pt x="2021009" y="0"/>
                </a:lnTo>
                <a:lnTo>
                  <a:pt x="2021009" y="1010857"/>
                </a:lnTo>
                <a:lnTo>
                  <a:pt x="0" y="1010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4493206" y="3011090"/>
            <a:ext cx="3918304" cy="33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id_productos </a:t>
            </a:r>
            <a:r>
              <a:rPr lang="en-US" b="true" sz="1882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(PK)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86893" y="6975563"/>
            <a:ext cx="2021009" cy="1010857"/>
          </a:xfrm>
          <a:custGeom>
            <a:avLst/>
            <a:gdLst/>
            <a:ahLst/>
            <a:cxnLst/>
            <a:rect r="r" b="b" t="t" l="l"/>
            <a:pathLst>
              <a:path h="1010857" w="2021009">
                <a:moveTo>
                  <a:pt x="0" y="0"/>
                </a:moveTo>
                <a:lnTo>
                  <a:pt x="2021010" y="0"/>
                </a:lnTo>
                <a:lnTo>
                  <a:pt x="2021010" y="1010857"/>
                </a:lnTo>
                <a:lnTo>
                  <a:pt x="0" y="1010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0" y="7296252"/>
            <a:ext cx="3869123" cy="382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7"/>
              </a:lnSpc>
              <a:spcBef>
                <a:spcPct val="0"/>
              </a:spcBef>
            </a:pPr>
            <a:r>
              <a:rPr lang="en-US" b="true" sz="2255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e-mail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9513148" y="3322335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6"/>
                </a:lnTo>
                <a:lnTo>
                  <a:pt x="0" y="1084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623822" y="3698644"/>
            <a:ext cx="3950642" cy="323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4"/>
              </a:lnSpc>
              <a:spcBef>
                <a:spcPct val="0"/>
              </a:spcBef>
            </a:pPr>
            <a:r>
              <a:rPr lang="en-US" b="true" sz="19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id_vendedor (PK)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9513148" y="4684990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6"/>
                </a:lnTo>
                <a:lnTo>
                  <a:pt x="0" y="1084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515276" y="6033153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6"/>
                </a:lnTo>
                <a:lnTo>
                  <a:pt x="0" y="1084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8623822" y="5047773"/>
            <a:ext cx="3950642" cy="358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  <a:spcBef>
                <a:spcPct val="0"/>
              </a:spcBef>
            </a:pPr>
            <a:r>
              <a:rPr lang="en-US" b="true" sz="20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nombre_apellido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587578" y="6426229"/>
            <a:ext cx="3950642" cy="375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4"/>
              </a:lnSpc>
              <a:spcBef>
                <a:spcPct val="0"/>
              </a:spcBef>
            </a:pPr>
            <a:r>
              <a:rPr lang="en-US" b="true" sz="21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teléfono</a:t>
            </a:r>
          </a:p>
        </p:txBody>
      </p:sp>
      <p:sp>
        <p:nvSpPr>
          <p:cNvPr name="AutoShape 35" id="35"/>
          <p:cNvSpPr/>
          <p:nvPr/>
        </p:nvSpPr>
        <p:spPr>
          <a:xfrm flipV="true">
            <a:off x="12021455" y="2447775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12281577" y="2290988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6"/>
                </a:lnTo>
                <a:lnTo>
                  <a:pt x="0" y="1084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7" id="37"/>
          <p:cNvSpPr/>
          <p:nvPr/>
        </p:nvSpPr>
        <p:spPr>
          <a:xfrm flipV="true">
            <a:off x="12034468" y="4093353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12448696" y="3788944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5"/>
                </a:lnTo>
                <a:lnTo>
                  <a:pt x="0" y="1084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9" id="39"/>
          <p:cNvSpPr/>
          <p:nvPr/>
        </p:nvSpPr>
        <p:spPr>
          <a:xfrm flipV="true">
            <a:off x="12047481" y="5738931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12511580" y="5258431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6"/>
                </a:lnTo>
                <a:lnTo>
                  <a:pt x="0" y="1084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574464" y="6727919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5"/>
                </a:lnTo>
                <a:lnTo>
                  <a:pt x="0" y="1084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2" id="42"/>
          <p:cNvSpPr/>
          <p:nvPr/>
        </p:nvSpPr>
        <p:spPr>
          <a:xfrm flipH="true">
            <a:off x="291939" y="3706922"/>
            <a:ext cx="0" cy="40602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5799418" y="7765099"/>
            <a:ext cx="3869123" cy="35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3"/>
              </a:lnSpc>
              <a:spcBef>
                <a:spcPct val="0"/>
              </a:spcBef>
            </a:pPr>
            <a:r>
              <a:rPr lang="en-US" b="true" sz="20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medio_pago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493206" y="4354622"/>
            <a:ext cx="3950642" cy="38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4"/>
              </a:lnSpc>
              <a:spcBef>
                <a:spcPct val="0"/>
              </a:spcBef>
            </a:pPr>
            <a:r>
              <a:rPr lang="en-US" b="true" sz="22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categoría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91211" y="2653698"/>
            <a:ext cx="3950642" cy="358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  <a:spcBef>
                <a:spcPct val="0"/>
              </a:spcBef>
            </a:pPr>
            <a:r>
              <a:rPr lang="en-US" b="true" sz="20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id_ventas (FK)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573411" y="4196369"/>
            <a:ext cx="3918304" cy="33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id_productos </a:t>
            </a:r>
            <a:r>
              <a:rPr lang="en-US" b="true" sz="1882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(FK)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620126" y="5599473"/>
            <a:ext cx="3950642" cy="38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4"/>
              </a:lnSpc>
              <a:spcBef>
                <a:spcPct val="0"/>
              </a:spcBef>
            </a:pPr>
            <a:r>
              <a:rPr lang="en-US" b="true" sz="22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cantidad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683011" y="7083431"/>
            <a:ext cx="3950642" cy="38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4"/>
              </a:lnSpc>
              <a:spcBef>
                <a:spcPct val="0"/>
              </a:spcBef>
            </a:pPr>
            <a:r>
              <a:rPr lang="en-US" b="true" sz="22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precio_unitario</a:t>
            </a:r>
          </a:p>
        </p:txBody>
      </p:sp>
      <p:sp>
        <p:nvSpPr>
          <p:cNvPr name="AutoShape 49" id="49"/>
          <p:cNvSpPr/>
          <p:nvPr/>
        </p:nvSpPr>
        <p:spPr>
          <a:xfrm flipV="true">
            <a:off x="273970" y="6371744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flipV="true">
            <a:off x="292480" y="7385783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flipH="true" flipV="true">
            <a:off x="6069083" y="2235209"/>
            <a:ext cx="116207" cy="634554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>
            <a:off x="5578940" y="6656239"/>
            <a:ext cx="121270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6454956" y="6080276"/>
            <a:ext cx="1979307" cy="989999"/>
          </a:xfrm>
          <a:custGeom>
            <a:avLst/>
            <a:gdLst/>
            <a:ahLst/>
            <a:cxnLst/>
            <a:rect r="r" b="b" t="t" l="l"/>
            <a:pathLst>
              <a:path h="989999" w="1979307">
                <a:moveTo>
                  <a:pt x="0" y="0"/>
                </a:moveTo>
                <a:lnTo>
                  <a:pt x="1979307" y="0"/>
                </a:lnTo>
                <a:lnTo>
                  <a:pt x="1979307" y="989999"/>
                </a:lnTo>
                <a:lnTo>
                  <a:pt x="0" y="9899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4" id="54"/>
          <p:cNvSpPr/>
          <p:nvPr/>
        </p:nvSpPr>
        <p:spPr>
          <a:xfrm flipV="true">
            <a:off x="6119925" y="8147352"/>
            <a:ext cx="602824" cy="2754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 flipH="true">
            <a:off x="9141673" y="2595967"/>
            <a:ext cx="0" cy="40602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flipV="true">
            <a:off x="9116993" y="5051576"/>
            <a:ext cx="431990" cy="5334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>
            <a:off x="9167129" y="6483379"/>
            <a:ext cx="212042" cy="918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8" id="58"/>
          <p:cNvSpPr txBox="true"/>
          <p:nvPr/>
        </p:nvSpPr>
        <p:spPr>
          <a:xfrm rot="0">
            <a:off x="5462390" y="6332686"/>
            <a:ext cx="3869123" cy="38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0"/>
              </a:lnSpc>
              <a:spcBef>
                <a:spcPct val="0"/>
              </a:spcBef>
            </a:pPr>
            <a:r>
              <a:rPr lang="en-US" b="true" sz="2157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fecha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3667959" y="6080276"/>
            <a:ext cx="2029652" cy="1015180"/>
          </a:xfrm>
          <a:custGeom>
            <a:avLst/>
            <a:gdLst/>
            <a:ahLst/>
            <a:cxnLst/>
            <a:rect r="r" b="b" t="t" l="l"/>
            <a:pathLst>
              <a:path h="1015180" w="2029652">
                <a:moveTo>
                  <a:pt x="0" y="0"/>
                </a:moveTo>
                <a:lnTo>
                  <a:pt x="2029653" y="0"/>
                </a:lnTo>
                <a:lnTo>
                  <a:pt x="2029653" y="1015181"/>
                </a:lnTo>
                <a:lnTo>
                  <a:pt x="0" y="10151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2811861" y="6285078"/>
            <a:ext cx="3869123" cy="667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9"/>
              </a:lnSpc>
            </a:pPr>
            <a:r>
              <a:rPr lang="en-US" sz="1863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id_vendedor </a:t>
            </a:r>
          </a:p>
          <a:p>
            <a:pPr algn="ctr">
              <a:lnSpc>
                <a:spcPts val="2609"/>
              </a:lnSpc>
              <a:spcBef>
                <a:spcPct val="0"/>
              </a:spcBef>
            </a:pPr>
            <a:r>
              <a:rPr lang="en-US" b="true" sz="186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(FK)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15536565" y="5269843"/>
            <a:ext cx="2021009" cy="1010857"/>
          </a:xfrm>
          <a:custGeom>
            <a:avLst/>
            <a:gdLst/>
            <a:ahLst/>
            <a:cxnLst/>
            <a:rect r="r" b="b" t="t" l="l"/>
            <a:pathLst>
              <a:path h="1010857" w="2021009">
                <a:moveTo>
                  <a:pt x="0" y="0"/>
                </a:moveTo>
                <a:lnTo>
                  <a:pt x="2021009" y="0"/>
                </a:lnTo>
                <a:lnTo>
                  <a:pt x="2021009" y="1010857"/>
                </a:lnTo>
                <a:lnTo>
                  <a:pt x="0" y="1010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14571749" y="5554649"/>
            <a:ext cx="3950642" cy="38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4"/>
              </a:lnSpc>
              <a:spcBef>
                <a:spcPct val="0"/>
              </a:spcBef>
            </a:pPr>
            <a:r>
              <a:rPr lang="en-US" b="true" sz="22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precio</a:t>
            </a:r>
          </a:p>
        </p:txBody>
      </p:sp>
      <p:sp>
        <p:nvSpPr>
          <p:cNvPr name="AutoShape 63" id="63"/>
          <p:cNvSpPr/>
          <p:nvPr/>
        </p:nvSpPr>
        <p:spPr>
          <a:xfrm>
            <a:off x="12033927" y="2012402"/>
            <a:ext cx="104775" cy="511865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 flipV="true">
            <a:off x="12099566" y="6966914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 flipH="true">
            <a:off x="14993157" y="2063217"/>
            <a:ext cx="0" cy="40602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 flipV="true">
            <a:off x="14993697" y="2901240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 flipV="true">
            <a:off x="14960873" y="4350109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 flipV="true">
            <a:off x="14961414" y="5898676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9" id="69"/>
          <p:cNvSpPr txBox="true"/>
          <p:nvPr/>
        </p:nvSpPr>
        <p:spPr>
          <a:xfrm rot="0">
            <a:off x="14974107" y="1377479"/>
            <a:ext cx="1811387" cy="63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4"/>
              </a:lnSpc>
              <a:spcBef>
                <a:spcPct val="0"/>
              </a:spcBef>
            </a:pPr>
            <a:r>
              <a:rPr lang="en-US" sz="3503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productos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296520" y="1365000"/>
            <a:ext cx="1378571" cy="73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2"/>
              </a:lnSpc>
              <a:spcBef>
                <a:spcPct val="0"/>
              </a:spcBef>
            </a:pPr>
            <a:r>
              <a:rPr lang="en-US" sz="4116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ventas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72889" y="2848211"/>
            <a:ext cx="1690539" cy="760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4"/>
              </a:lnSpc>
              <a:spcBef>
                <a:spcPct val="0"/>
              </a:spcBef>
            </a:pPr>
            <a:r>
              <a:rPr lang="en-US" sz="4203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clientes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981732" y="1679684"/>
            <a:ext cx="1783556" cy="684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4"/>
              </a:lnSpc>
              <a:spcBef>
                <a:spcPct val="0"/>
              </a:spcBef>
            </a:pPr>
            <a:r>
              <a:rPr lang="en-US" sz="3803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vendedor</a:t>
            </a:r>
          </a:p>
        </p:txBody>
      </p:sp>
      <p:sp>
        <p:nvSpPr>
          <p:cNvPr name="AutoShape 73" id="73"/>
          <p:cNvSpPr/>
          <p:nvPr/>
        </p:nvSpPr>
        <p:spPr>
          <a:xfrm flipV="true">
            <a:off x="1406756" y="1835962"/>
            <a:ext cx="3763432" cy="87488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4" id="74"/>
          <p:cNvSpPr/>
          <p:nvPr/>
        </p:nvSpPr>
        <p:spPr>
          <a:xfrm flipH="false" flipV="false" rot="0">
            <a:off x="2376535" y="1232660"/>
            <a:ext cx="1783161" cy="1783161"/>
          </a:xfrm>
          <a:custGeom>
            <a:avLst/>
            <a:gdLst/>
            <a:ahLst/>
            <a:cxnLst/>
            <a:rect r="r" b="b" t="t" l="l"/>
            <a:pathLst>
              <a:path h="1783161" w="1783161">
                <a:moveTo>
                  <a:pt x="0" y="0"/>
                </a:moveTo>
                <a:lnTo>
                  <a:pt x="1783161" y="0"/>
                </a:lnTo>
                <a:lnTo>
                  <a:pt x="1783161" y="1783161"/>
                </a:lnTo>
                <a:lnTo>
                  <a:pt x="0" y="17831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5" id="75"/>
          <p:cNvSpPr txBox="true"/>
          <p:nvPr/>
        </p:nvSpPr>
        <p:spPr>
          <a:xfrm rot="0">
            <a:off x="1333554" y="1909931"/>
            <a:ext cx="3869123" cy="41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b="true" sz="23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realizan</a:t>
            </a:r>
          </a:p>
        </p:txBody>
      </p:sp>
      <p:sp>
        <p:nvSpPr>
          <p:cNvPr name="AutoShape 76" id="76"/>
          <p:cNvSpPr/>
          <p:nvPr/>
        </p:nvSpPr>
        <p:spPr>
          <a:xfrm>
            <a:off x="6856726" y="1694305"/>
            <a:ext cx="2088755" cy="40122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7" id="77"/>
          <p:cNvSpPr/>
          <p:nvPr/>
        </p:nvSpPr>
        <p:spPr>
          <a:xfrm flipH="false" flipV="false" rot="0">
            <a:off x="7338146" y="1274456"/>
            <a:ext cx="1285676" cy="1285676"/>
          </a:xfrm>
          <a:custGeom>
            <a:avLst/>
            <a:gdLst/>
            <a:ahLst/>
            <a:cxnLst/>
            <a:rect r="r" b="b" t="t" l="l"/>
            <a:pathLst>
              <a:path h="1285676" w="1285676">
                <a:moveTo>
                  <a:pt x="0" y="0"/>
                </a:moveTo>
                <a:lnTo>
                  <a:pt x="1285676" y="0"/>
                </a:lnTo>
                <a:lnTo>
                  <a:pt x="1285676" y="1285676"/>
                </a:lnTo>
                <a:lnTo>
                  <a:pt x="0" y="12856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8" id="78"/>
          <p:cNvSpPr txBox="true"/>
          <p:nvPr/>
        </p:nvSpPr>
        <p:spPr>
          <a:xfrm rot="0">
            <a:off x="6046423" y="1637155"/>
            <a:ext cx="3869123" cy="41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b="true" sz="23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realizan</a:t>
            </a:r>
          </a:p>
        </p:txBody>
      </p:sp>
      <p:sp>
        <p:nvSpPr>
          <p:cNvPr name="AutoShape 79" id="79"/>
          <p:cNvSpPr/>
          <p:nvPr/>
        </p:nvSpPr>
        <p:spPr>
          <a:xfrm flipV="true">
            <a:off x="12667420" y="628747"/>
            <a:ext cx="965932" cy="8361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0" id="80"/>
          <p:cNvSpPr/>
          <p:nvPr/>
        </p:nvSpPr>
        <p:spPr>
          <a:xfrm flipH="false" flipV="false" rot="0">
            <a:off x="13365445" y="10524"/>
            <a:ext cx="1336281" cy="1336281"/>
          </a:xfrm>
          <a:custGeom>
            <a:avLst/>
            <a:gdLst/>
            <a:ahLst/>
            <a:cxnLst/>
            <a:rect r="r" b="b" t="t" l="l"/>
            <a:pathLst>
              <a:path h="1336281" w="1336281">
                <a:moveTo>
                  <a:pt x="0" y="0"/>
                </a:moveTo>
                <a:lnTo>
                  <a:pt x="1336281" y="0"/>
                </a:lnTo>
                <a:lnTo>
                  <a:pt x="1336281" y="1336281"/>
                </a:lnTo>
                <a:lnTo>
                  <a:pt x="0" y="13362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1" id="81"/>
          <p:cNvSpPr txBox="true"/>
          <p:nvPr/>
        </p:nvSpPr>
        <p:spPr>
          <a:xfrm rot="0">
            <a:off x="12138702" y="441822"/>
            <a:ext cx="3869123" cy="37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b="true" sz="21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contiene</a:t>
            </a:r>
          </a:p>
        </p:txBody>
      </p:sp>
      <p:sp>
        <p:nvSpPr>
          <p:cNvPr name="Freeform 82" id="82"/>
          <p:cNvSpPr/>
          <p:nvPr/>
        </p:nvSpPr>
        <p:spPr>
          <a:xfrm flipH="false" flipV="false" rot="0">
            <a:off x="11189663" y="1168015"/>
            <a:ext cx="1819806" cy="956226"/>
          </a:xfrm>
          <a:custGeom>
            <a:avLst/>
            <a:gdLst/>
            <a:ahLst/>
            <a:cxnLst/>
            <a:rect r="r" b="b" t="t" l="l"/>
            <a:pathLst>
              <a:path h="956226" w="1819806">
                <a:moveTo>
                  <a:pt x="0" y="0"/>
                </a:moveTo>
                <a:lnTo>
                  <a:pt x="1819806" y="0"/>
                </a:lnTo>
                <a:lnTo>
                  <a:pt x="1819806" y="956226"/>
                </a:lnTo>
                <a:lnTo>
                  <a:pt x="0" y="95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3" id="83"/>
          <p:cNvSpPr txBox="true"/>
          <p:nvPr/>
        </p:nvSpPr>
        <p:spPr>
          <a:xfrm rot="0">
            <a:off x="11189663" y="1388697"/>
            <a:ext cx="1814959" cy="46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4"/>
              </a:lnSpc>
              <a:spcBef>
                <a:spcPct val="0"/>
              </a:spcBef>
            </a:pPr>
            <a:r>
              <a:rPr lang="en-US" sz="2603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detalle_venta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5822197" y="9057349"/>
            <a:ext cx="6886724" cy="86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4"/>
              </a:lnSpc>
              <a:spcBef>
                <a:spcPct val="0"/>
              </a:spcBef>
            </a:pPr>
            <a:r>
              <a:rPr lang="en-US" sz="4803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diagrama entidad-relación</a:t>
            </a:r>
          </a:p>
        </p:txBody>
      </p:sp>
      <p:sp>
        <p:nvSpPr>
          <p:cNvPr name="AutoShape 85" id="85"/>
          <p:cNvSpPr/>
          <p:nvPr/>
        </p:nvSpPr>
        <p:spPr>
          <a:xfrm flipV="true">
            <a:off x="6719153" y="780849"/>
            <a:ext cx="1454448" cy="5659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6" id="86"/>
          <p:cNvSpPr/>
          <p:nvPr/>
        </p:nvSpPr>
        <p:spPr>
          <a:xfrm flipH="false" flipV="false" rot="0">
            <a:off x="8154181" y="75345"/>
            <a:ext cx="1361095" cy="1361095"/>
          </a:xfrm>
          <a:custGeom>
            <a:avLst/>
            <a:gdLst/>
            <a:ahLst/>
            <a:cxnLst/>
            <a:rect r="r" b="b" t="t" l="l"/>
            <a:pathLst>
              <a:path h="1361095" w="1361095">
                <a:moveTo>
                  <a:pt x="0" y="0"/>
                </a:moveTo>
                <a:lnTo>
                  <a:pt x="1361095" y="0"/>
                </a:lnTo>
                <a:lnTo>
                  <a:pt x="1361095" y="1361095"/>
                </a:lnTo>
                <a:lnTo>
                  <a:pt x="0" y="13610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7" id="87"/>
          <p:cNvSpPr txBox="true"/>
          <p:nvPr/>
        </p:nvSpPr>
        <p:spPr>
          <a:xfrm rot="0">
            <a:off x="6896165" y="441933"/>
            <a:ext cx="3869123" cy="41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b="true" sz="23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contiene</a:t>
            </a:r>
          </a:p>
        </p:txBody>
      </p:sp>
      <p:sp>
        <p:nvSpPr>
          <p:cNvPr name="AutoShape 88" id="88"/>
          <p:cNvSpPr/>
          <p:nvPr/>
        </p:nvSpPr>
        <p:spPr>
          <a:xfrm flipH="true" flipV="true">
            <a:off x="9485862" y="682915"/>
            <a:ext cx="1648393" cy="66389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9" id="89"/>
          <p:cNvSpPr txBox="true"/>
          <p:nvPr/>
        </p:nvSpPr>
        <p:spPr>
          <a:xfrm rot="-1275302">
            <a:off x="913751" y="841362"/>
            <a:ext cx="3869123" cy="41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b="true" sz="23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1 - *</a:t>
            </a:r>
          </a:p>
        </p:txBody>
      </p:sp>
      <p:sp>
        <p:nvSpPr>
          <p:cNvPr name="TextBox 90" id="90"/>
          <p:cNvSpPr txBox="true"/>
          <p:nvPr/>
        </p:nvSpPr>
        <p:spPr>
          <a:xfrm rot="575515">
            <a:off x="6006270" y="2608513"/>
            <a:ext cx="3869123" cy="41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b="true" sz="23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* - 1</a:t>
            </a:r>
          </a:p>
        </p:txBody>
      </p:sp>
      <p:sp>
        <p:nvSpPr>
          <p:cNvPr name="TextBox 91" id="91"/>
          <p:cNvSpPr txBox="true"/>
          <p:nvPr/>
        </p:nvSpPr>
        <p:spPr>
          <a:xfrm rot="575515">
            <a:off x="8433958" y="528550"/>
            <a:ext cx="3869123" cy="41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b="true" sz="23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1 - *</a:t>
            </a:r>
          </a:p>
        </p:txBody>
      </p:sp>
      <p:sp>
        <p:nvSpPr>
          <p:cNvPr name="TextBox 92" id="92"/>
          <p:cNvSpPr txBox="true"/>
          <p:nvPr/>
        </p:nvSpPr>
        <p:spPr>
          <a:xfrm rot="1740096">
            <a:off x="13699696" y="603089"/>
            <a:ext cx="3869123" cy="42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3"/>
              </a:lnSpc>
              <a:spcBef>
                <a:spcPct val="0"/>
              </a:spcBef>
            </a:pPr>
            <a:r>
              <a:rPr lang="en-US" b="true" sz="24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1 - *</a:t>
            </a:r>
          </a:p>
        </p:txBody>
      </p:sp>
      <p:sp>
        <p:nvSpPr>
          <p:cNvPr name="Freeform 93" id="93">
            <a:hlinkClick r:id="rId10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>
            <a:hlinkClick r:id="rId11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9453" y="1028700"/>
            <a:ext cx="6118857" cy="7648571"/>
          </a:xfrm>
          <a:custGeom>
            <a:avLst/>
            <a:gdLst/>
            <a:ahLst/>
            <a:cxnLst/>
            <a:rect r="r" b="b" t="t" l="l"/>
            <a:pathLst>
              <a:path h="7648571" w="6118857">
                <a:moveTo>
                  <a:pt x="0" y="0"/>
                </a:moveTo>
                <a:lnTo>
                  <a:pt x="6118857" y="0"/>
                </a:lnTo>
                <a:lnTo>
                  <a:pt x="6118857" y="7648571"/>
                </a:lnTo>
                <a:lnTo>
                  <a:pt x="0" y="7648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71288" y="158793"/>
            <a:ext cx="2551509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CLIENTES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09104" y="1765205"/>
            <a:ext cx="11478896" cy="572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En la tabla clientes tenemos los atributos: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id_cliente INT NOT NULL AUTO_INCREM PK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nombre_apellido VARCHAR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email VARCHAR UNIQUE</a:t>
            </a:r>
          </a:p>
          <a:p>
            <a:pPr algn="just">
              <a:lnSpc>
                <a:spcPts val="4954"/>
              </a:lnSpc>
            </a:pPr>
          </a:p>
          <a:p>
            <a:pPr algn="just">
              <a:lnSpc>
                <a:spcPts val="4954"/>
              </a:lnSpc>
              <a:spcBef>
                <a:spcPct val="0"/>
              </a:spcBef>
            </a:pPr>
            <a:r>
              <a:rPr lang="en-US" b="true" sz="353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 tabla clientes contiene el identificador del cliente, nombre, apellido y el email de contacto con su respectiva PK que es el id_cliente que establece la relación con las demás tablas. 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82999"/>
            <a:ext cx="5247810" cy="8921003"/>
          </a:xfrm>
          <a:custGeom>
            <a:avLst/>
            <a:gdLst/>
            <a:ahLst/>
            <a:cxnLst/>
            <a:rect r="r" b="b" t="t" l="l"/>
            <a:pathLst>
              <a:path h="8921003" w="5247810">
                <a:moveTo>
                  <a:pt x="0" y="0"/>
                </a:moveTo>
                <a:lnTo>
                  <a:pt x="5247810" y="0"/>
                </a:lnTo>
                <a:lnTo>
                  <a:pt x="5247810" y="8921002"/>
                </a:lnTo>
                <a:lnTo>
                  <a:pt x="0" y="89210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71" r="0" b="-227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09304" y="231708"/>
            <a:ext cx="2177951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VENTAS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63059" y="1482968"/>
            <a:ext cx="11724941" cy="763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En la tabla ventas tenemos los atributos: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id_ventas  INT NOT NULL AUTO_INCREM PK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cliente VARCHAR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producto VARCHAR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importe_total INT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fecha DATE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medio_pago VARCHAR</a:t>
            </a:r>
          </a:p>
          <a:p>
            <a:pPr algn="just">
              <a:lnSpc>
                <a:spcPts val="4954"/>
              </a:lnSpc>
            </a:pPr>
          </a:p>
          <a:p>
            <a:pPr algn="just">
              <a:lnSpc>
                <a:spcPts val="4954"/>
              </a:lnSpc>
              <a:spcBef>
                <a:spcPct val="0"/>
              </a:spcBef>
            </a:pPr>
            <a:r>
              <a:rPr lang="en-US" b="true" sz="353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 tabla ventas como PK e identificador al N° de la venta, cliente, producto, importe total, fecha y medio de pago siendo la PK id_ventas quien establece la relación con las demás tablas. 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4578" y="1028700"/>
            <a:ext cx="5501196" cy="8380658"/>
          </a:xfrm>
          <a:custGeom>
            <a:avLst/>
            <a:gdLst/>
            <a:ahLst/>
            <a:cxnLst/>
            <a:rect r="r" b="b" t="t" l="l"/>
            <a:pathLst>
              <a:path h="8380658" w="5501196">
                <a:moveTo>
                  <a:pt x="0" y="0"/>
                </a:moveTo>
                <a:lnTo>
                  <a:pt x="5501195" y="0"/>
                </a:lnTo>
                <a:lnTo>
                  <a:pt x="5501195" y="8380658"/>
                </a:lnTo>
                <a:lnTo>
                  <a:pt x="0" y="8380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28" r="0" b="-832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47105" y="231708"/>
            <a:ext cx="3302347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productos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26333" y="1926132"/>
            <a:ext cx="12061667" cy="635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En la tabla productos tenemos los siguientes atributos: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id_producto INT PK NOT NULL AUTO_INCREM PK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categoría VARCHAR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precio INT</a:t>
            </a:r>
          </a:p>
          <a:p>
            <a:pPr algn="just">
              <a:lnSpc>
                <a:spcPts val="4954"/>
              </a:lnSpc>
            </a:pPr>
          </a:p>
          <a:p>
            <a:pPr algn="just">
              <a:lnSpc>
                <a:spcPts val="4954"/>
              </a:lnSpc>
              <a:spcBef>
                <a:spcPct val="0"/>
              </a:spcBef>
            </a:pPr>
            <a:r>
              <a:rPr lang="en-US" b="true" sz="353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 tabla productos consta del id_producto como PK, la categoría que define el tipo de producto, es decir, si es de cafetería o pastelería y el precio de cada producto. Id_producto es la clave primaria que establece la relación las demás tablas. 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7651" y="1317482"/>
            <a:ext cx="4616253" cy="7902328"/>
          </a:xfrm>
          <a:custGeom>
            <a:avLst/>
            <a:gdLst/>
            <a:ahLst/>
            <a:cxnLst/>
            <a:rect r="r" b="b" t="t" l="l"/>
            <a:pathLst>
              <a:path h="7902328" w="4616253">
                <a:moveTo>
                  <a:pt x="0" y="0"/>
                </a:moveTo>
                <a:lnTo>
                  <a:pt x="4616252" y="0"/>
                </a:lnTo>
                <a:lnTo>
                  <a:pt x="4616252" y="7902328"/>
                </a:lnTo>
                <a:lnTo>
                  <a:pt x="0" y="7902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08" r="0" b="-190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725922" y="231708"/>
            <a:ext cx="2944713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vendedor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48968" y="1926132"/>
            <a:ext cx="12239032" cy="572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 tabla vendedor hace referencia al personal y cuenta con los siguientes atributos: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id_vendedor INT NOT NULL AUTO_INCREM PK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nombre_apellido VARCHAR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teléfono VARCHAR</a:t>
            </a:r>
          </a:p>
          <a:p>
            <a:pPr algn="just">
              <a:lnSpc>
                <a:spcPts val="4954"/>
              </a:lnSpc>
            </a:pPr>
          </a:p>
          <a:p>
            <a:pPr algn="just">
              <a:lnSpc>
                <a:spcPts val="4954"/>
              </a:lnSpc>
              <a:spcBef>
                <a:spcPct val="0"/>
              </a:spcBef>
            </a:pPr>
            <a:r>
              <a:rPr lang="en-US" b="true" sz="353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 tabla vendedor consta de id_vendedor como PK que establece la relación con las demás tablas, nombre, apellido y teléfono de cada vendedor. 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9308" y="1742434"/>
            <a:ext cx="5255720" cy="7515866"/>
          </a:xfrm>
          <a:custGeom>
            <a:avLst/>
            <a:gdLst/>
            <a:ahLst/>
            <a:cxnLst/>
            <a:rect r="r" b="b" t="t" l="l"/>
            <a:pathLst>
              <a:path h="7515866" w="5255720">
                <a:moveTo>
                  <a:pt x="0" y="0"/>
                </a:moveTo>
                <a:lnTo>
                  <a:pt x="5255720" y="0"/>
                </a:lnTo>
                <a:lnTo>
                  <a:pt x="5255720" y="7515866"/>
                </a:lnTo>
                <a:lnTo>
                  <a:pt x="0" y="7515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5" t="0" r="-1025" b="-723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74079" y="400088"/>
            <a:ext cx="4185791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detalle_Venta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61638" y="1959149"/>
            <a:ext cx="11447646" cy="700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 tabla detalle_venta es una tabla intermedia que armé para evitar una cardinalidad de muchos a muchos en ventas y productos. 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Esta tabla contiene 2 claves foráneas: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id_venta: INT FK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Id_producto: INT FK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cantidad: INT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precio_unitario: INT</a:t>
            </a:r>
          </a:p>
          <a:p>
            <a:pPr algn="just">
              <a:lnSpc>
                <a:spcPts val="4954"/>
              </a:lnSpc>
              <a:spcBef>
                <a:spcPct val="0"/>
              </a:spcBef>
            </a:pPr>
            <a:r>
              <a:rPr lang="en-US" b="true" sz="353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Las claves foráneas permiten la relación con las demás tablas y consta de dos atributos más que son cantidad y precio_unitario. 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8579" y="1291136"/>
            <a:ext cx="14269313" cy="8561588"/>
          </a:xfrm>
          <a:custGeom>
            <a:avLst/>
            <a:gdLst/>
            <a:ahLst/>
            <a:cxnLst/>
            <a:rect r="r" b="b" t="t" l="l"/>
            <a:pathLst>
              <a:path h="8561588" w="14269313">
                <a:moveTo>
                  <a:pt x="0" y="0"/>
                </a:moveTo>
                <a:lnTo>
                  <a:pt x="14269314" y="0"/>
                </a:lnTo>
                <a:lnTo>
                  <a:pt x="14269314" y="8561588"/>
                </a:lnTo>
                <a:lnTo>
                  <a:pt x="0" y="85615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06496" y="160097"/>
            <a:ext cx="9707314" cy="86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4"/>
              </a:lnSpc>
              <a:spcBef>
                <a:spcPct val="0"/>
              </a:spcBef>
            </a:pPr>
            <a:r>
              <a:rPr lang="en-US" sz="4803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diagrama entidad-relación por mysql</a:t>
            </a:r>
          </a:p>
        </p:txBody>
      </p:sp>
      <p:sp>
        <p:nvSpPr>
          <p:cNvPr name="Freeform 4" id="4">
            <a:hlinkClick r:id="rId5" action="ppaction://hlinksldjump"/>
          </p:cNvPr>
          <p:cNvSpPr/>
          <p:nvPr/>
        </p:nvSpPr>
        <p:spPr>
          <a:xfrm flipH="false" flipV="false" rot="0">
            <a:off x="16132218" y="9258300"/>
            <a:ext cx="760123" cy="760123"/>
          </a:xfrm>
          <a:custGeom>
            <a:avLst/>
            <a:gdLst/>
            <a:ahLst/>
            <a:cxnLst/>
            <a:rect r="r" b="b" t="t" l="l"/>
            <a:pathLst>
              <a:path h="760123" w="760123">
                <a:moveTo>
                  <a:pt x="0" y="0"/>
                </a:moveTo>
                <a:lnTo>
                  <a:pt x="760123" y="0"/>
                </a:lnTo>
                <a:lnTo>
                  <a:pt x="760123" y="760123"/>
                </a:lnTo>
                <a:lnTo>
                  <a:pt x="0" y="7601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DAGgDj7q-UA</dc:identifier>
  <dcterms:modified xsi:type="dcterms:W3CDTF">2011-08-01T06:04:30Z</dcterms:modified>
  <cp:revision>1</cp:revision>
  <dc:title>Cafetería_MarianelaFelipe</dc:title>
</cp:coreProperties>
</file>
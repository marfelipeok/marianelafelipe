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20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x="18288000" cy="10287000"/>
  <p:notesSz cx="6858000" cy="9144000"/>
  <p:embeddedFontLst>
    <p:embeddedFont>
      <p:font typeface="Scripter" charset="1" panose="00000000000000000000"/>
      <p:regular r:id="rId23"/>
    </p:embeddedFont>
    <p:embeddedFont>
      <p:font typeface="Cocomat Pro Bold" charset="1" panose="00000700000000000000"/>
      <p:regular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notesMasters/notesMaster1.xml" Type="http://schemas.openxmlformats.org/officeDocument/2006/relationships/notesMaster"/><Relationship Id="rId21" Target="theme/theme2.xml" Type="http://schemas.openxmlformats.org/officeDocument/2006/relationships/theme"/><Relationship Id="rId22" Target="notesSlides/notesSlide1.xml" Type="http://schemas.openxmlformats.org/officeDocument/2006/relationships/notesSlide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MI CAFETERIA</a:t>
            </a:r>
          </a:p>
          <a:p>
            <a:r>
              <a:rPr lang="en-US"/>
              <a:t/>
            </a:r>
          </a:p>
          <a:p>
            <a:r>
              <a:rPr lang="en-US"/>
              <a:t>PROYECTO PERSONAL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jpeg" Type="http://schemas.openxmlformats.org/officeDocument/2006/relationships/image"/><Relationship Id="rId4" Target="../media/image2.png" Type="http://schemas.openxmlformats.org/officeDocument/2006/relationships/image"/><Relationship Id="rId5" Target="../media/image3.svg" Type="http://schemas.openxmlformats.org/officeDocument/2006/relationships/image"/><Relationship Id="rId6" Target="slide2.xml" Type="http://schemas.openxmlformats.org/officeDocument/2006/relationships/slide"/><Relationship Id="rId7" Target="../media/image4.png" Type="http://schemas.openxmlformats.org/officeDocument/2006/relationships/image"/><Relationship Id="rId8" Target="../media/image5.svg" Type="http://schemas.openxmlformats.org/officeDocument/2006/relationships/image"/><Relationship Id="rId9" Target="slide3.xml" Type="http://schemas.openxmlformats.org/officeDocument/2006/relationships/slid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Relationship Id="rId3" Target="../media/image7.png" Type="http://schemas.openxmlformats.org/officeDocument/2006/relationships/image"/><Relationship Id="rId4" Target="../media/image8.svg" Type="http://schemas.openxmlformats.org/officeDocument/2006/relationships/image"/><Relationship Id="rId5" Target="slide1.xml" Type="http://schemas.openxmlformats.org/officeDocument/2006/relationships/slide"/><Relationship Id="rId6" Target="slide3.xml" Type="http://schemas.openxmlformats.org/officeDocument/2006/relationships/slid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slide2.xml" Type="http://schemas.openxmlformats.org/officeDocument/2006/relationships/slide"/><Relationship Id="rId11" Target="slide4.xml" Type="http://schemas.openxmlformats.org/officeDocument/2006/relationships/slide"/><Relationship Id="rId2" Target="../media/image9.png" Type="http://schemas.openxmlformats.org/officeDocument/2006/relationships/image"/><Relationship Id="rId3" Target="../media/image10.sv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Relationship Id="rId6" Target="../media/image13.png" Type="http://schemas.openxmlformats.org/officeDocument/2006/relationships/image"/><Relationship Id="rId7" Target="../media/image14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jpeg" Type="http://schemas.openxmlformats.org/officeDocument/2006/relationships/image"/><Relationship Id="rId3" Target="../media/image7.png" Type="http://schemas.openxmlformats.org/officeDocument/2006/relationships/image"/><Relationship Id="rId4" Target="../media/image8.svg" Type="http://schemas.openxmlformats.org/officeDocument/2006/relationships/image"/><Relationship Id="rId5" Target="slide3.xml" Type="http://schemas.openxmlformats.org/officeDocument/2006/relationships/slide"/><Relationship Id="rId6" Target="slide5.xml" Type="http://schemas.openxmlformats.org/officeDocument/2006/relationships/slid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jpeg" Type="http://schemas.openxmlformats.org/officeDocument/2006/relationships/image"/><Relationship Id="rId3" Target="../media/image7.png" Type="http://schemas.openxmlformats.org/officeDocument/2006/relationships/image"/><Relationship Id="rId4" Target="../media/image8.svg" Type="http://schemas.openxmlformats.org/officeDocument/2006/relationships/image"/><Relationship Id="rId5" Target="slide4.xml" Type="http://schemas.openxmlformats.org/officeDocument/2006/relationships/slide"/><Relationship Id="rId6" Target="slide6.xml" Type="http://schemas.openxmlformats.org/officeDocument/2006/relationships/slid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jpeg" Type="http://schemas.openxmlformats.org/officeDocument/2006/relationships/image"/><Relationship Id="rId3" Target="../media/image7.png" Type="http://schemas.openxmlformats.org/officeDocument/2006/relationships/image"/><Relationship Id="rId4" Target="../media/image8.svg" Type="http://schemas.openxmlformats.org/officeDocument/2006/relationships/image"/><Relationship Id="rId5" Target="slide5.xml" Type="http://schemas.openxmlformats.org/officeDocument/2006/relationships/slide"/><Relationship Id="rId6" Target="slide7.xml" Type="http://schemas.openxmlformats.org/officeDocument/2006/relationships/slid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jpeg" Type="http://schemas.openxmlformats.org/officeDocument/2006/relationships/image"/><Relationship Id="rId3" Target="../media/image7.png" Type="http://schemas.openxmlformats.org/officeDocument/2006/relationships/image"/><Relationship Id="rId4" Target="../media/image8.svg" Type="http://schemas.openxmlformats.org/officeDocument/2006/relationships/image"/><Relationship Id="rId5" Target="slide6.xml" Type="http://schemas.openxmlformats.org/officeDocument/2006/relationships/slide"/><Relationship Id="rId6" Target="slide8.xml" Type="http://schemas.openxmlformats.org/officeDocument/2006/relationships/slid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jpeg" Type="http://schemas.openxmlformats.org/officeDocument/2006/relationships/image"/><Relationship Id="rId3" Target="../media/image7.png" Type="http://schemas.openxmlformats.org/officeDocument/2006/relationships/image"/><Relationship Id="rId4" Target="../media/image8.svg" Type="http://schemas.openxmlformats.org/officeDocument/2006/relationships/image"/><Relationship Id="rId5" Target="slide7.xml" Type="http://schemas.openxmlformats.org/officeDocument/2006/relationships/slide"/><Relationship Id="rId6" Target="slide10.xml" Type="http://schemas.openxmlformats.org/officeDocument/2006/relationships/slid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slide7.xml" Type="http://schemas.openxmlformats.org/officeDocument/2006/relationships/slide"/><Relationship Id="rId5" Target="slide10.xml" Type="http://schemas.openxmlformats.org/officeDocument/2006/relationships/slide"/><Relationship Id="rId6" Target="../media/image20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Relationship Id="rId3" Target="../media/image7.png" Type="http://schemas.openxmlformats.org/officeDocument/2006/relationships/image"/><Relationship Id="rId4" Target="../media/image8.svg" Type="http://schemas.openxmlformats.org/officeDocument/2006/relationships/image"/><Relationship Id="rId5" Target="slide7.xml" Type="http://schemas.openxmlformats.org/officeDocument/2006/relationships/slide"/><Relationship Id="rId6" Target="slide10.xml" Type="http://schemas.openxmlformats.org/officeDocument/2006/relationships/slid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2.jpeg" Type="http://schemas.openxmlformats.org/officeDocument/2006/relationships/image"/><Relationship Id="rId3" Target="../media/image7.png" Type="http://schemas.openxmlformats.org/officeDocument/2006/relationships/image"/><Relationship Id="rId4" Target="../media/image8.svg" Type="http://schemas.openxmlformats.org/officeDocument/2006/relationships/image"/><Relationship Id="rId5" Target="slide7.xml" Type="http://schemas.openxmlformats.org/officeDocument/2006/relationships/slide"/><Relationship Id="rId6" Target="slide10.xml" Type="http://schemas.openxmlformats.org/officeDocument/2006/relationships/slid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3.jpeg" Type="http://schemas.openxmlformats.org/officeDocument/2006/relationships/image"/><Relationship Id="rId3" Target="../media/image7.png" Type="http://schemas.openxmlformats.org/officeDocument/2006/relationships/image"/><Relationship Id="rId4" Target="../media/image8.svg" Type="http://schemas.openxmlformats.org/officeDocument/2006/relationships/image"/><Relationship Id="rId5" Target="slide7.xml" Type="http://schemas.openxmlformats.org/officeDocument/2006/relationships/slide"/><Relationship Id="rId6" Target="slide10.xml" Type="http://schemas.openxmlformats.org/officeDocument/2006/relationships/slid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4.jpeg" Type="http://schemas.openxmlformats.org/officeDocument/2006/relationships/image"/><Relationship Id="rId3" Target="../media/image7.png" Type="http://schemas.openxmlformats.org/officeDocument/2006/relationships/image"/><Relationship Id="rId4" Target="../media/image8.svg" Type="http://schemas.openxmlformats.org/officeDocument/2006/relationships/image"/><Relationship Id="rId5" Target="slide7.xml" Type="http://schemas.openxmlformats.org/officeDocument/2006/relationships/slide"/><Relationship Id="rId6" Target="slide10.xml" Type="http://schemas.openxmlformats.org/officeDocument/2006/relationships/slid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5.jpeg" Type="http://schemas.openxmlformats.org/officeDocument/2006/relationships/image"/><Relationship Id="rId3" Target="../media/image7.png" Type="http://schemas.openxmlformats.org/officeDocument/2006/relationships/image"/><Relationship Id="rId4" Target="../media/image8.svg" Type="http://schemas.openxmlformats.org/officeDocument/2006/relationships/image"/><Relationship Id="rId5" Target="slide7.xml" Type="http://schemas.openxmlformats.org/officeDocument/2006/relationships/slid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E948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92470" y="841890"/>
            <a:ext cx="5818844" cy="8161091"/>
          </a:xfrm>
          <a:custGeom>
            <a:avLst/>
            <a:gdLst/>
            <a:ahLst/>
            <a:cxnLst/>
            <a:rect r="r" b="b" t="t" l="l"/>
            <a:pathLst>
              <a:path h="8161091" w="5818844">
                <a:moveTo>
                  <a:pt x="0" y="0"/>
                </a:moveTo>
                <a:lnTo>
                  <a:pt x="5818844" y="0"/>
                </a:lnTo>
                <a:lnTo>
                  <a:pt x="5818844" y="8161091"/>
                </a:lnTo>
                <a:lnTo>
                  <a:pt x="0" y="816109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-5225" b="0"/>
            </a:stretch>
          </a:blipFill>
        </p:spPr>
      </p:sp>
      <p:sp>
        <p:nvSpPr>
          <p:cNvPr name="Freeform 3" id="3">
            <a:hlinkClick r:id="rId6" action="ppaction://hlinksldjump"/>
          </p:cNvPr>
          <p:cNvSpPr/>
          <p:nvPr/>
        </p:nvSpPr>
        <p:spPr>
          <a:xfrm flipH="false" flipV="false" rot="0">
            <a:off x="10380522" y="7627978"/>
            <a:ext cx="1289628" cy="1289628"/>
          </a:xfrm>
          <a:custGeom>
            <a:avLst/>
            <a:gdLst/>
            <a:ahLst/>
            <a:cxnLst/>
            <a:rect r="r" b="b" t="t" l="l"/>
            <a:pathLst>
              <a:path h="1289628" w="1289628">
                <a:moveTo>
                  <a:pt x="0" y="0"/>
                </a:moveTo>
                <a:lnTo>
                  <a:pt x="1289629" y="0"/>
                </a:lnTo>
                <a:lnTo>
                  <a:pt x="1289629" y="1289628"/>
                </a:lnTo>
                <a:lnTo>
                  <a:pt x="0" y="128962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>
            <a:hlinkClick r:id="rId9" action="ppaction://hlinksldjump"/>
          </p:cNvPr>
          <p:cNvSpPr/>
          <p:nvPr/>
        </p:nvSpPr>
        <p:spPr>
          <a:xfrm flipH="false" flipV="false" rot="0">
            <a:off x="12981249" y="7627978"/>
            <a:ext cx="1872111" cy="1375003"/>
          </a:xfrm>
          <a:custGeom>
            <a:avLst/>
            <a:gdLst/>
            <a:ahLst/>
            <a:cxnLst/>
            <a:rect r="r" b="b" t="t" l="l"/>
            <a:pathLst>
              <a:path h="1375003" w="1872111">
                <a:moveTo>
                  <a:pt x="0" y="0"/>
                </a:moveTo>
                <a:lnTo>
                  <a:pt x="1872111" y="0"/>
                </a:lnTo>
                <a:lnTo>
                  <a:pt x="1872111" y="1375003"/>
                </a:lnTo>
                <a:lnTo>
                  <a:pt x="0" y="137500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9144000" y="4461566"/>
            <a:ext cx="6224885" cy="10857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4"/>
              </a:lnSpc>
              <a:spcBef>
                <a:spcPct val="0"/>
              </a:spcBef>
            </a:pPr>
            <a:r>
              <a:rPr lang="en-US" sz="6002">
                <a:solidFill>
                  <a:srgbClr val="000000"/>
                </a:solidFill>
                <a:latin typeface="Scripter"/>
                <a:ea typeface="Scripter"/>
                <a:cs typeface="Scripter"/>
                <a:sym typeface="Scripter"/>
              </a:rPr>
              <a:t>BY Marianela felipe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976466" y="1848258"/>
            <a:ext cx="10744646" cy="14778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466"/>
              </a:lnSpc>
              <a:spcBef>
                <a:spcPct val="0"/>
              </a:spcBef>
            </a:pPr>
            <a:r>
              <a:rPr lang="en-US" sz="8190" u="sng">
                <a:solidFill>
                  <a:srgbClr val="000000"/>
                </a:solidFill>
                <a:latin typeface="Scripter"/>
                <a:ea typeface="Scripter"/>
                <a:cs typeface="Scripter"/>
                <a:sym typeface="Scripter"/>
              </a:rPr>
              <a:t>11:11 café de especialidad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029914" y="5859368"/>
            <a:ext cx="3887391" cy="8425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584"/>
              </a:lnSpc>
              <a:spcBef>
                <a:spcPct val="0"/>
              </a:spcBef>
            </a:pPr>
            <a:r>
              <a:rPr lang="en-US" sz="4703">
                <a:solidFill>
                  <a:srgbClr val="000000"/>
                </a:solidFill>
                <a:latin typeface="Scripter"/>
                <a:ea typeface="Scripter"/>
                <a:cs typeface="Scripter"/>
                <a:sym typeface="Scripter"/>
              </a:rPr>
              <a:t>comision: 89215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E948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47281" y="1028700"/>
            <a:ext cx="4394986" cy="7836528"/>
          </a:xfrm>
          <a:custGeom>
            <a:avLst/>
            <a:gdLst/>
            <a:ahLst/>
            <a:cxnLst/>
            <a:rect r="r" b="b" t="t" l="l"/>
            <a:pathLst>
              <a:path h="7836528" w="4394986">
                <a:moveTo>
                  <a:pt x="0" y="0"/>
                </a:moveTo>
                <a:lnTo>
                  <a:pt x="4394986" y="0"/>
                </a:lnTo>
                <a:lnTo>
                  <a:pt x="4394986" y="7836528"/>
                </a:lnTo>
                <a:lnTo>
                  <a:pt x="0" y="783652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238990" y="2728442"/>
            <a:ext cx="12884160" cy="57298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954"/>
              </a:lnSpc>
              <a:spcBef>
                <a:spcPct val="0"/>
              </a:spcBef>
            </a:pPr>
            <a:r>
              <a:rPr lang="en-US" b="true" sz="3538">
                <a:solidFill>
                  <a:srgbClr val="000000"/>
                </a:solidFill>
                <a:latin typeface="Cocomat Pro Bold"/>
                <a:ea typeface="Cocomat Pro Bold"/>
                <a:cs typeface="Cocomat Pro Bold"/>
                <a:sym typeface="Cocomat Pro Bold"/>
              </a:rPr>
              <a:t>Es una base de datos de ventas de café de especialidad.  Consta de entidades, campos y registros acordes al modelo de negocio elegido. La finalidad del proyecto es manejar un eficiente control de stock de café y pastelería, arqueo de caja con apertura y cierre correctos, que la modificación/aumento de precios sea eficiente y sin intervención del DBA. En principio contiene 4 entidades con 1 tabla intermedia, cada una con sus atributos correspondientes y la cardinalidad.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7924499" y="139462"/>
            <a:ext cx="3756571" cy="10857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4"/>
              </a:lnSpc>
              <a:spcBef>
                <a:spcPct val="0"/>
              </a:spcBef>
            </a:pPr>
            <a:r>
              <a:rPr lang="en-US" sz="6002" u="sng">
                <a:solidFill>
                  <a:srgbClr val="000000"/>
                </a:solidFill>
                <a:latin typeface="Scripter"/>
                <a:ea typeface="Scripter"/>
                <a:cs typeface="Scripter"/>
                <a:sym typeface="Scripter"/>
              </a:rPr>
              <a:t>desafío 11:11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5238990" y="1453438"/>
            <a:ext cx="7592913" cy="9606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424"/>
              </a:lnSpc>
              <a:spcBef>
                <a:spcPct val="0"/>
              </a:spcBef>
            </a:pPr>
            <a:r>
              <a:rPr lang="en-US" sz="5303">
                <a:solidFill>
                  <a:srgbClr val="000000"/>
                </a:solidFill>
                <a:latin typeface="Scripter"/>
                <a:ea typeface="Scripter"/>
                <a:cs typeface="Scripter"/>
                <a:sym typeface="Scripter"/>
              </a:rPr>
              <a:t>descripción de la temática</a:t>
            </a:r>
          </a:p>
        </p:txBody>
      </p:sp>
      <p:sp>
        <p:nvSpPr>
          <p:cNvPr name="Freeform 6" id="6">
            <a:hlinkClick r:id="rId5" action="ppaction://hlinksldjump"/>
          </p:cNvPr>
          <p:cNvSpPr/>
          <p:nvPr/>
        </p:nvSpPr>
        <p:spPr>
          <a:xfrm flipH="false" flipV="false" rot="0">
            <a:off x="15498771" y="9069568"/>
            <a:ext cx="920566" cy="920566"/>
          </a:xfrm>
          <a:custGeom>
            <a:avLst/>
            <a:gdLst/>
            <a:ahLst/>
            <a:cxnLst/>
            <a:rect r="r" b="b" t="t" l="l"/>
            <a:pathLst>
              <a:path h="920566" w="920566">
                <a:moveTo>
                  <a:pt x="0" y="0"/>
                </a:moveTo>
                <a:lnTo>
                  <a:pt x="920566" y="0"/>
                </a:lnTo>
                <a:lnTo>
                  <a:pt x="920566" y="920565"/>
                </a:lnTo>
                <a:lnTo>
                  <a:pt x="0" y="92056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>
            <a:hlinkClick r:id="rId6" action="ppaction://hlinksldjump"/>
          </p:cNvPr>
          <p:cNvSpPr/>
          <p:nvPr/>
        </p:nvSpPr>
        <p:spPr>
          <a:xfrm flipH="true" flipV="false" rot="0">
            <a:off x="16802504" y="9069568"/>
            <a:ext cx="920566" cy="920566"/>
          </a:xfrm>
          <a:custGeom>
            <a:avLst/>
            <a:gdLst/>
            <a:ahLst/>
            <a:cxnLst/>
            <a:rect r="r" b="b" t="t" l="l"/>
            <a:pathLst>
              <a:path h="920566" w="920566">
                <a:moveTo>
                  <a:pt x="920566" y="0"/>
                </a:moveTo>
                <a:lnTo>
                  <a:pt x="0" y="0"/>
                </a:lnTo>
                <a:lnTo>
                  <a:pt x="0" y="920565"/>
                </a:lnTo>
                <a:lnTo>
                  <a:pt x="920566" y="920565"/>
                </a:lnTo>
                <a:lnTo>
                  <a:pt x="920566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E948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140771" y="1346805"/>
            <a:ext cx="1690070" cy="888055"/>
          </a:xfrm>
          <a:custGeom>
            <a:avLst/>
            <a:gdLst/>
            <a:ahLst/>
            <a:cxnLst/>
            <a:rect r="r" b="b" t="t" l="l"/>
            <a:pathLst>
              <a:path h="888055" w="1690070">
                <a:moveTo>
                  <a:pt x="0" y="0"/>
                </a:moveTo>
                <a:lnTo>
                  <a:pt x="1690069" y="0"/>
                </a:lnTo>
                <a:lnTo>
                  <a:pt x="1690069" y="888055"/>
                </a:lnTo>
                <a:lnTo>
                  <a:pt x="0" y="88805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5510048" y="3972923"/>
            <a:ext cx="1212701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3756769" y="3245932"/>
            <a:ext cx="1979307" cy="989999"/>
          </a:xfrm>
          <a:custGeom>
            <a:avLst/>
            <a:gdLst/>
            <a:ahLst/>
            <a:cxnLst/>
            <a:rect r="r" b="b" t="t" l="l"/>
            <a:pathLst>
              <a:path h="989999" w="1979307">
                <a:moveTo>
                  <a:pt x="0" y="0"/>
                </a:moveTo>
                <a:lnTo>
                  <a:pt x="1979307" y="0"/>
                </a:lnTo>
                <a:lnTo>
                  <a:pt x="1979307" y="989999"/>
                </a:lnTo>
                <a:lnTo>
                  <a:pt x="0" y="98999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2811861" y="3519844"/>
            <a:ext cx="3869123" cy="3429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46"/>
              </a:lnSpc>
              <a:spcBef>
                <a:spcPct val="0"/>
              </a:spcBef>
            </a:pPr>
            <a:r>
              <a:rPr lang="en-US" b="true" sz="1961">
                <a:solidFill>
                  <a:srgbClr val="000000"/>
                </a:solidFill>
                <a:latin typeface="Cocomat Pro Bold"/>
                <a:ea typeface="Cocomat Pro Bold"/>
                <a:cs typeface="Cocomat Pro Bold"/>
                <a:sym typeface="Cocomat Pro Bold"/>
              </a:rPr>
              <a:t>id_ventas (PK)</a:t>
            </a:r>
          </a:p>
        </p:txBody>
      </p:sp>
      <p:sp>
        <p:nvSpPr>
          <p:cNvPr name="AutoShape 6" id="6"/>
          <p:cNvSpPr/>
          <p:nvPr/>
        </p:nvSpPr>
        <p:spPr>
          <a:xfrm>
            <a:off x="5462390" y="5313677"/>
            <a:ext cx="1212701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7" id="7"/>
          <p:cNvSpPr/>
          <p:nvPr/>
        </p:nvSpPr>
        <p:spPr>
          <a:xfrm flipH="false" flipV="false" rot="0">
            <a:off x="3756769" y="4515848"/>
            <a:ext cx="2042649" cy="1021681"/>
          </a:xfrm>
          <a:custGeom>
            <a:avLst/>
            <a:gdLst/>
            <a:ahLst/>
            <a:cxnLst/>
            <a:rect r="r" b="b" t="t" l="l"/>
            <a:pathLst>
              <a:path h="1021681" w="2042649">
                <a:moveTo>
                  <a:pt x="0" y="0"/>
                </a:moveTo>
                <a:lnTo>
                  <a:pt x="2042649" y="0"/>
                </a:lnTo>
                <a:lnTo>
                  <a:pt x="2042649" y="1021681"/>
                </a:lnTo>
                <a:lnTo>
                  <a:pt x="0" y="102168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2811861" y="4823317"/>
            <a:ext cx="3869123" cy="3591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83"/>
              </a:lnSpc>
              <a:spcBef>
                <a:spcPct val="0"/>
              </a:spcBef>
            </a:pPr>
            <a:r>
              <a:rPr lang="en-US" b="true" sz="2059">
                <a:solidFill>
                  <a:srgbClr val="000000"/>
                </a:solidFill>
                <a:latin typeface="Cocomat Pro Bold"/>
                <a:ea typeface="Cocomat Pro Bold"/>
                <a:cs typeface="Cocomat Pro Bold"/>
                <a:sym typeface="Cocomat Pro Bold"/>
              </a:rPr>
              <a:t>id_cliente (FK)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211928" y="2812019"/>
            <a:ext cx="1819806" cy="956226"/>
          </a:xfrm>
          <a:custGeom>
            <a:avLst/>
            <a:gdLst/>
            <a:ahLst/>
            <a:cxnLst/>
            <a:rect r="r" b="b" t="t" l="l"/>
            <a:pathLst>
              <a:path h="956226" w="1819806">
                <a:moveTo>
                  <a:pt x="0" y="0"/>
                </a:moveTo>
                <a:lnTo>
                  <a:pt x="1819806" y="0"/>
                </a:lnTo>
                <a:lnTo>
                  <a:pt x="1819806" y="956226"/>
                </a:lnTo>
                <a:lnTo>
                  <a:pt x="0" y="95622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10" id="10"/>
          <p:cNvSpPr/>
          <p:nvPr/>
        </p:nvSpPr>
        <p:spPr>
          <a:xfrm>
            <a:off x="14566448" y="667434"/>
            <a:ext cx="913417" cy="725728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1" id="11"/>
          <p:cNvSpPr/>
          <p:nvPr/>
        </p:nvSpPr>
        <p:spPr>
          <a:xfrm flipH="false" flipV="false" rot="0">
            <a:off x="14974107" y="1216193"/>
            <a:ext cx="1819806" cy="956226"/>
          </a:xfrm>
          <a:custGeom>
            <a:avLst/>
            <a:gdLst/>
            <a:ahLst/>
            <a:cxnLst/>
            <a:rect r="r" b="b" t="t" l="l"/>
            <a:pathLst>
              <a:path h="956226" w="1819806">
                <a:moveTo>
                  <a:pt x="0" y="0"/>
                </a:moveTo>
                <a:lnTo>
                  <a:pt x="1819806" y="0"/>
                </a:lnTo>
                <a:lnTo>
                  <a:pt x="1819806" y="956225"/>
                </a:lnTo>
                <a:lnTo>
                  <a:pt x="0" y="95622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8945481" y="1617415"/>
            <a:ext cx="1819806" cy="956226"/>
          </a:xfrm>
          <a:custGeom>
            <a:avLst/>
            <a:gdLst/>
            <a:ahLst/>
            <a:cxnLst/>
            <a:rect r="r" b="b" t="t" l="l"/>
            <a:pathLst>
              <a:path h="956226" w="1819806">
                <a:moveTo>
                  <a:pt x="0" y="0"/>
                </a:moveTo>
                <a:lnTo>
                  <a:pt x="1819807" y="0"/>
                </a:lnTo>
                <a:lnTo>
                  <a:pt x="1819807" y="956226"/>
                </a:lnTo>
                <a:lnTo>
                  <a:pt x="0" y="95622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6454956" y="3245932"/>
            <a:ext cx="1979307" cy="989999"/>
          </a:xfrm>
          <a:custGeom>
            <a:avLst/>
            <a:gdLst/>
            <a:ahLst/>
            <a:cxnLst/>
            <a:rect r="r" b="b" t="t" l="l"/>
            <a:pathLst>
              <a:path h="989999" w="1979307">
                <a:moveTo>
                  <a:pt x="0" y="0"/>
                </a:moveTo>
                <a:lnTo>
                  <a:pt x="1979307" y="0"/>
                </a:lnTo>
                <a:lnTo>
                  <a:pt x="1979307" y="989999"/>
                </a:lnTo>
                <a:lnTo>
                  <a:pt x="0" y="98999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6454956" y="4515848"/>
            <a:ext cx="1979307" cy="989999"/>
          </a:xfrm>
          <a:custGeom>
            <a:avLst/>
            <a:gdLst/>
            <a:ahLst/>
            <a:cxnLst/>
            <a:rect r="r" b="b" t="t" l="l"/>
            <a:pathLst>
              <a:path h="989999" w="1979307">
                <a:moveTo>
                  <a:pt x="0" y="0"/>
                </a:moveTo>
                <a:lnTo>
                  <a:pt x="1979307" y="0"/>
                </a:lnTo>
                <a:lnTo>
                  <a:pt x="1979307" y="989999"/>
                </a:lnTo>
                <a:lnTo>
                  <a:pt x="0" y="98999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15" id="15"/>
          <p:cNvSpPr/>
          <p:nvPr/>
        </p:nvSpPr>
        <p:spPr>
          <a:xfrm>
            <a:off x="9141673" y="3740932"/>
            <a:ext cx="426360" cy="19042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6" id="16"/>
          <p:cNvSpPr txBox="true"/>
          <p:nvPr/>
        </p:nvSpPr>
        <p:spPr>
          <a:xfrm rot="0">
            <a:off x="5510048" y="3506969"/>
            <a:ext cx="3869123" cy="3848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20"/>
              </a:lnSpc>
              <a:spcBef>
                <a:spcPct val="0"/>
              </a:spcBef>
            </a:pPr>
            <a:r>
              <a:rPr lang="en-US" b="true" sz="2157">
                <a:solidFill>
                  <a:srgbClr val="000000"/>
                </a:solidFill>
                <a:latin typeface="Cocomat Pro Bold"/>
                <a:ea typeface="Cocomat Pro Bold"/>
                <a:cs typeface="Cocomat Pro Bold"/>
                <a:sym typeface="Cocomat Pro Bold"/>
              </a:rPr>
              <a:t>producto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5510048" y="4839486"/>
            <a:ext cx="3869123" cy="3591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83"/>
              </a:lnSpc>
              <a:spcBef>
                <a:spcPct val="0"/>
              </a:spcBef>
            </a:pPr>
            <a:r>
              <a:rPr lang="en-US" b="true" sz="2059">
                <a:solidFill>
                  <a:srgbClr val="000000"/>
                </a:solidFill>
                <a:latin typeface="Cocomat Pro Bold"/>
                <a:ea typeface="Cocomat Pro Bold"/>
                <a:cs typeface="Cocomat Pro Bold"/>
                <a:sym typeface="Cocomat Pro Bold"/>
              </a:rPr>
              <a:t>importe_total</a:t>
            </a:r>
          </a:p>
        </p:txBody>
      </p:sp>
      <p:sp>
        <p:nvSpPr>
          <p:cNvPr name="Freeform 18" id="18"/>
          <p:cNvSpPr/>
          <p:nvPr/>
        </p:nvSpPr>
        <p:spPr>
          <a:xfrm flipH="false" flipV="false" rot="0">
            <a:off x="6608271" y="7439611"/>
            <a:ext cx="1979307" cy="989999"/>
          </a:xfrm>
          <a:custGeom>
            <a:avLst/>
            <a:gdLst/>
            <a:ahLst/>
            <a:cxnLst/>
            <a:rect r="r" b="b" t="t" l="l"/>
            <a:pathLst>
              <a:path h="989999" w="1979307">
                <a:moveTo>
                  <a:pt x="0" y="0"/>
                </a:moveTo>
                <a:lnTo>
                  <a:pt x="1979307" y="0"/>
                </a:lnTo>
                <a:lnTo>
                  <a:pt x="1979307" y="989999"/>
                </a:lnTo>
                <a:lnTo>
                  <a:pt x="0" y="98999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886893" y="5879634"/>
            <a:ext cx="2021009" cy="1010857"/>
          </a:xfrm>
          <a:custGeom>
            <a:avLst/>
            <a:gdLst/>
            <a:ahLst/>
            <a:cxnLst/>
            <a:rect r="r" b="b" t="t" l="l"/>
            <a:pathLst>
              <a:path h="1010857" w="2021009">
                <a:moveTo>
                  <a:pt x="0" y="0"/>
                </a:moveTo>
                <a:lnTo>
                  <a:pt x="2021010" y="0"/>
                </a:lnTo>
                <a:lnTo>
                  <a:pt x="2021010" y="1010857"/>
                </a:lnTo>
                <a:lnTo>
                  <a:pt x="0" y="101085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15441853" y="4058017"/>
            <a:ext cx="2021009" cy="1010857"/>
          </a:xfrm>
          <a:custGeom>
            <a:avLst/>
            <a:gdLst/>
            <a:ahLst/>
            <a:cxnLst/>
            <a:rect r="r" b="b" t="t" l="l"/>
            <a:pathLst>
              <a:path h="1010857" w="2021009">
                <a:moveTo>
                  <a:pt x="0" y="0"/>
                </a:moveTo>
                <a:lnTo>
                  <a:pt x="2021009" y="0"/>
                </a:lnTo>
                <a:lnTo>
                  <a:pt x="2021009" y="1010857"/>
                </a:lnTo>
                <a:lnTo>
                  <a:pt x="0" y="101085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-37163" y="6194549"/>
            <a:ext cx="3869123" cy="3429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46"/>
              </a:lnSpc>
              <a:spcBef>
                <a:spcPct val="0"/>
              </a:spcBef>
            </a:pPr>
            <a:r>
              <a:rPr lang="en-US" b="true" sz="1961">
                <a:solidFill>
                  <a:srgbClr val="000000"/>
                </a:solidFill>
                <a:latin typeface="Cocomat Pro Bold"/>
                <a:ea typeface="Cocomat Pro Bold"/>
                <a:cs typeface="Cocomat Pro Bold"/>
                <a:sym typeface="Cocomat Pro Bold"/>
              </a:rPr>
              <a:t>nombre_apellido</a:t>
            </a:r>
          </a:p>
        </p:txBody>
      </p:sp>
      <p:sp>
        <p:nvSpPr>
          <p:cNvPr name="AutoShape 22" id="22"/>
          <p:cNvSpPr/>
          <p:nvPr/>
        </p:nvSpPr>
        <p:spPr>
          <a:xfrm flipV="true">
            <a:off x="273430" y="4927612"/>
            <a:ext cx="609355" cy="17298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23" id="23"/>
          <p:cNvSpPr/>
          <p:nvPr/>
        </p:nvSpPr>
        <p:spPr>
          <a:xfrm flipH="false" flipV="false" rot="0">
            <a:off x="813531" y="4315492"/>
            <a:ext cx="2167735" cy="1084246"/>
          </a:xfrm>
          <a:custGeom>
            <a:avLst/>
            <a:gdLst/>
            <a:ahLst/>
            <a:cxnLst/>
            <a:rect r="r" b="b" t="t" l="l"/>
            <a:pathLst>
              <a:path h="1084246" w="2167735">
                <a:moveTo>
                  <a:pt x="0" y="0"/>
                </a:moveTo>
                <a:lnTo>
                  <a:pt x="2167735" y="0"/>
                </a:lnTo>
                <a:lnTo>
                  <a:pt x="2167735" y="1084246"/>
                </a:lnTo>
                <a:lnTo>
                  <a:pt x="0" y="108424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-110526" y="4658652"/>
            <a:ext cx="3869123" cy="3591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83"/>
              </a:lnSpc>
              <a:spcBef>
                <a:spcPct val="0"/>
              </a:spcBef>
            </a:pPr>
            <a:r>
              <a:rPr lang="en-US" b="true" sz="2059">
                <a:solidFill>
                  <a:srgbClr val="000000"/>
                </a:solidFill>
                <a:latin typeface="Cocomat Pro Bold"/>
                <a:ea typeface="Cocomat Pro Bold"/>
                <a:cs typeface="Cocomat Pro Bold"/>
                <a:sym typeface="Cocomat Pro Bold"/>
              </a:rPr>
              <a:t>id_cliente (PK)</a:t>
            </a:r>
          </a:p>
        </p:txBody>
      </p:sp>
      <p:sp>
        <p:nvSpPr>
          <p:cNvPr name="Freeform 25" id="25"/>
          <p:cNvSpPr/>
          <p:nvPr/>
        </p:nvSpPr>
        <p:spPr>
          <a:xfrm flipH="false" flipV="false" rot="0">
            <a:off x="15441853" y="2696065"/>
            <a:ext cx="2021009" cy="1010857"/>
          </a:xfrm>
          <a:custGeom>
            <a:avLst/>
            <a:gdLst/>
            <a:ahLst/>
            <a:cxnLst/>
            <a:rect r="r" b="b" t="t" l="l"/>
            <a:pathLst>
              <a:path h="1010857" w="2021009">
                <a:moveTo>
                  <a:pt x="0" y="0"/>
                </a:moveTo>
                <a:lnTo>
                  <a:pt x="2021009" y="0"/>
                </a:lnTo>
                <a:lnTo>
                  <a:pt x="2021009" y="1010857"/>
                </a:lnTo>
                <a:lnTo>
                  <a:pt x="0" y="101085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6" id="26"/>
          <p:cNvSpPr txBox="true"/>
          <p:nvPr/>
        </p:nvSpPr>
        <p:spPr>
          <a:xfrm rot="0">
            <a:off x="14493206" y="3011090"/>
            <a:ext cx="3918304" cy="3331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35"/>
              </a:lnSpc>
              <a:spcBef>
                <a:spcPct val="0"/>
              </a:spcBef>
            </a:pPr>
            <a:r>
              <a:rPr lang="en-US" b="true" sz="1882">
                <a:solidFill>
                  <a:srgbClr val="000000"/>
                </a:solidFill>
                <a:latin typeface="Cocomat Pro Bold"/>
                <a:ea typeface="Cocomat Pro Bold"/>
                <a:cs typeface="Cocomat Pro Bold"/>
                <a:sym typeface="Cocomat Pro Bold"/>
              </a:rPr>
              <a:t>id_productos </a:t>
            </a:r>
            <a:r>
              <a:rPr lang="en-US" b="true" sz="1882">
                <a:solidFill>
                  <a:srgbClr val="000000"/>
                </a:solidFill>
                <a:latin typeface="Cocomat Pro Bold"/>
                <a:ea typeface="Cocomat Pro Bold"/>
                <a:cs typeface="Cocomat Pro Bold"/>
                <a:sym typeface="Cocomat Pro Bold"/>
              </a:rPr>
              <a:t>(PK)</a:t>
            </a:r>
          </a:p>
        </p:txBody>
      </p:sp>
      <p:sp>
        <p:nvSpPr>
          <p:cNvPr name="Freeform 27" id="27"/>
          <p:cNvSpPr/>
          <p:nvPr/>
        </p:nvSpPr>
        <p:spPr>
          <a:xfrm flipH="false" flipV="false" rot="0">
            <a:off x="886893" y="6975563"/>
            <a:ext cx="2021009" cy="1010857"/>
          </a:xfrm>
          <a:custGeom>
            <a:avLst/>
            <a:gdLst/>
            <a:ahLst/>
            <a:cxnLst/>
            <a:rect r="r" b="b" t="t" l="l"/>
            <a:pathLst>
              <a:path h="1010857" w="2021009">
                <a:moveTo>
                  <a:pt x="0" y="0"/>
                </a:moveTo>
                <a:lnTo>
                  <a:pt x="2021010" y="0"/>
                </a:lnTo>
                <a:lnTo>
                  <a:pt x="2021010" y="1010857"/>
                </a:lnTo>
                <a:lnTo>
                  <a:pt x="0" y="101085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8" id="28"/>
          <p:cNvSpPr txBox="true"/>
          <p:nvPr/>
        </p:nvSpPr>
        <p:spPr>
          <a:xfrm rot="0">
            <a:off x="0" y="7296252"/>
            <a:ext cx="3869123" cy="3821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57"/>
              </a:lnSpc>
              <a:spcBef>
                <a:spcPct val="0"/>
              </a:spcBef>
            </a:pPr>
            <a:r>
              <a:rPr lang="en-US" b="true" sz="2255">
                <a:solidFill>
                  <a:srgbClr val="000000"/>
                </a:solidFill>
                <a:latin typeface="Cocomat Pro Bold"/>
                <a:ea typeface="Cocomat Pro Bold"/>
                <a:cs typeface="Cocomat Pro Bold"/>
                <a:sym typeface="Cocomat Pro Bold"/>
              </a:rPr>
              <a:t>e-mail</a:t>
            </a:r>
          </a:p>
        </p:txBody>
      </p:sp>
      <p:sp>
        <p:nvSpPr>
          <p:cNvPr name="Freeform 29" id="29"/>
          <p:cNvSpPr/>
          <p:nvPr/>
        </p:nvSpPr>
        <p:spPr>
          <a:xfrm flipH="false" flipV="false" rot="0">
            <a:off x="9513148" y="3322335"/>
            <a:ext cx="2167735" cy="1084246"/>
          </a:xfrm>
          <a:custGeom>
            <a:avLst/>
            <a:gdLst/>
            <a:ahLst/>
            <a:cxnLst/>
            <a:rect r="r" b="b" t="t" l="l"/>
            <a:pathLst>
              <a:path h="1084246" w="2167735">
                <a:moveTo>
                  <a:pt x="0" y="0"/>
                </a:moveTo>
                <a:lnTo>
                  <a:pt x="2167735" y="0"/>
                </a:lnTo>
                <a:lnTo>
                  <a:pt x="2167735" y="1084246"/>
                </a:lnTo>
                <a:lnTo>
                  <a:pt x="0" y="108424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0" id="30"/>
          <p:cNvSpPr txBox="true"/>
          <p:nvPr/>
        </p:nvSpPr>
        <p:spPr>
          <a:xfrm rot="0">
            <a:off x="8623822" y="3698644"/>
            <a:ext cx="3950642" cy="3231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64"/>
              </a:lnSpc>
              <a:spcBef>
                <a:spcPct val="0"/>
              </a:spcBef>
            </a:pPr>
            <a:r>
              <a:rPr lang="en-US" b="true" sz="1903">
                <a:solidFill>
                  <a:srgbClr val="000000"/>
                </a:solidFill>
                <a:latin typeface="Cocomat Pro Bold"/>
                <a:ea typeface="Cocomat Pro Bold"/>
                <a:cs typeface="Cocomat Pro Bold"/>
                <a:sym typeface="Cocomat Pro Bold"/>
              </a:rPr>
              <a:t>id_vendedor (PK)</a:t>
            </a:r>
          </a:p>
        </p:txBody>
      </p:sp>
      <p:sp>
        <p:nvSpPr>
          <p:cNvPr name="Freeform 31" id="31"/>
          <p:cNvSpPr/>
          <p:nvPr/>
        </p:nvSpPr>
        <p:spPr>
          <a:xfrm flipH="false" flipV="false" rot="0">
            <a:off x="9513148" y="4684990"/>
            <a:ext cx="2167735" cy="1084246"/>
          </a:xfrm>
          <a:custGeom>
            <a:avLst/>
            <a:gdLst/>
            <a:ahLst/>
            <a:cxnLst/>
            <a:rect r="r" b="b" t="t" l="l"/>
            <a:pathLst>
              <a:path h="1084246" w="2167735">
                <a:moveTo>
                  <a:pt x="0" y="0"/>
                </a:moveTo>
                <a:lnTo>
                  <a:pt x="2167735" y="0"/>
                </a:lnTo>
                <a:lnTo>
                  <a:pt x="2167735" y="1084246"/>
                </a:lnTo>
                <a:lnTo>
                  <a:pt x="0" y="108424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2" id="32"/>
          <p:cNvSpPr/>
          <p:nvPr/>
        </p:nvSpPr>
        <p:spPr>
          <a:xfrm flipH="false" flipV="false" rot="0">
            <a:off x="9515276" y="6033153"/>
            <a:ext cx="2167735" cy="1084246"/>
          </a:xfrm>
          <a:custGeom>
            <a:avLst/>
            <a:gdLst/>
            <a:ahLst/>
            <a:cxnLst/>
            <a:rect r="r" b="b" t="t" l="l"/>
            <a:pathLst>
              <a:path h="1084246" w="2167735">
                <a:moveTo>
                  <a:pt x="0" y="0"/>
                </a:moveTo>
                <a:lnTo>
                  <a:pt x="2167735" y="0"/>
                </a:lnTo>
                <a:lnTo>
                  <a:pt x="2167735" y="1084246"/>
                </a:lnTo>
                <a:lnTo>
                  <a:pt x="0" y="108424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3" id="33"/>
          <p:cNvSpPr txBox="true"/>
          <p:nvPr/>
        </p:nvSpPr>
        <p:spPr>
          <a:xfrm rot="0">
            <a:off x="8623822" y="5047773"/>
            <a:ext cx="3950642" cy="3586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4"/>
              </a:lnSpc>
              <a:spcBef>
                <a:spcPct val="0"/>
              </a:spcBef>
            </a:pPr>
            <a:r>
              <a:rPr lang="en-US" b="true" sz="2003">
                <a:solidFill>
                  <a:srgbClr val="000000"/>
                </a:solidFill>
                <a:latin typeface="Cocomat Pro Bold"/>
                <a:ea typeface="Cocomat Pro Bold"/>
                <a:cs typeface="Cocomat Pro Bold"/>
                <a:sym typeface="Cocomat Pro Bold"/>
              </a:rPr>
              <a:t>nombre_apellido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8587578" y="6426229"/>
            <a:ext cx="3950642" cy="3752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4"/>
              </a:lnSpc>
              <a:spcBef>
                <a:spcPct val="0"/>
              </a:spcBef>
            </a:pPr>
            <a:r>
              <a:rPr lang="en-US" b="true" sz="2103">
                <a:solidFill>
                  <a:srgbClr val="000000"/>
                </a:solidFill>
                <a:latin typeface="Cocomat Pro Bold"/>
                <a:ea typeface="Cocomat Pro Bold"/>
                <a:cs typeface="Cocomat Pro Bold"/>
                <a:sym typeface="Cocomat Pro Bold"/>
              </a:rPr>
              <a:t>teléfono</a:t>
            </a:r>
          </a:p>
        </p:txBody>
      </p:sp>
      <p:sp>
        <p:nvSpPr>
          <p:cNvPr name="AutoShape 35" id="35"/>
          <p:cNvSpPr/>
          <p:nvPr/>
        </p:nvSpPr>
        <p:spPr>
          <a:xfrm flipV="true">
            <a:off x="12021455" y="2447775"/>
            <a:ext cx="609355" cy="17298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6" id="36"/>
          <p:cNvSpPr/>
          <p:nvPr/>
        </p:nvSpPr>
        <p:spPr>
          <a:xfrm flipH="false" flipV="false" rot="0">
            <a:off x="12281577" y="2290988"/>
            <a:ext cx="2167735" cy="1084246"/>
          </a:xfrm>
          <a:custGeom>
            <a:avLst/>
            <a:gdLst/>
            <a:ahLst/>
            <a:cxnLst/>
            <a:rect r="r" b="b" t="t" l="l"/>
            <a:pathLst>
              <a:path h="1084246" w="2167735">
                <a:moveTo>
                  <a:pt x="0" y="0"/>
                </a:moveTo>
                <a:lnTo>
                  <a:pt x="2167735" y="0"/>
                </a:lnTo>
                <a:lnTo>
                  <a:pt x="2167735" y="1084246"/>
                </a:lnTo>
                <a:lnTo>
                  <a:pt x="0" y="108424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37" id="37"/>
          <p:cNvSpPr/>
          <p:nvPr/>
        </p:nvSpPr>
        <p:spPr>
          <a:xfrm flipV="true">
            <a:off x="12034468" y="4093353"/>
            <a:ext cx="609355" cy="17298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8" id="38"/>
          <p:cNvSpPr/>
          <p:nvPr/>
        </p:nvSpPr>
        <p:spPr>
          <a:xfrm flipH="false" flipV="false" rot="0">
            <a:off x="12448696" y="3788944"/>
            <a:ext cx="2167735" cy="1084246"/>
          </a:xfrm>
          <a:custGeom>
            <a:avLst/>
            <a:gdLst/>
            <a:ahLst/>
            <a:cxnLst/>
            <a:rect r="r" b="b" t="t" l="l"/>
            <a:pathLst>
              <a:path h="1084246" w="2167735">
                <a:moveTo>
                  <a:pt x="0" y="0"/>
                </a:moveTo>
                <a:lnTo>
                  <a:pt x="2167735" y="0"/>
                </a:lnTo>
                <a:lnTo>
                  <a:pt x="2167735" y="1084245"/>
                </a:lnTo>
                <a:lnTo>
                  <a:pt x="0" y="108424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39" id="39"/>
          <p:cNvSpPr/>
          <p:nvPr/>
        </p:nvSpPr>
        <p:spPr>
          <a:xfrm flipV="true">
            <a:off x="12047481" y="5738931"/>
            <a:ext cx="609355" cy="17298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0" id="40"/>
          <p:cNvSpPr/>
          <p:nvPr/>
        </p:nvSpPr>
        <p:spPr>
          <a:xfrm flipH="false" flipV="false" rot="0">
            <a:off x="12511580" y="5258431"/>
            <a:ext cx="2167735" cy="1084246"/>
          </a:xfrm>
          <a:custGeom>
            <a:avLst/>
            <a:gdLst/>
            <a:ahLst/>
            <a:cxnLst/>
            <a:rect r="r" b="b" t="t" l="l"/>
            <a:pathLst>
              <a:path h="1084246" w="2167735">
                <a:moveTo>
                  <a:pt x="0" y="0"/>
                </a:moveTo>
                <a:lnTo>
                  <a:pt x="2167735" y="0"/>
                </a:lnTo>
                <a:lnTo>
                  <a:pt x="2167735" y="1084246"/>
                </a:lnTo>
                <a:lnTo>
                  <a:pt x="0" y="108424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1" id="41"/>
          <p:cNvSpPr/>
          <p:nvPr/>
        </p:nvSpPr>
        <p:spPr>
          <a:xfrm flipH="false" flipV="false" rot="0">
            <a:off x="12574464" y="6727919"/>
            <a:ext cx="2167735" cy="1084246"/>
          </a:xfrm>
          <a:custGeom>
            <a:avLst/>
            <a:gdLst/>
            <a:ahLst/>
            <a:cxnLst/>
            <a:rect r="r" b="b" t="t" l="l"/>
            <a:pathLst>
              <a:path h="1084246" w="2167735">
                <a:moveTo>
                  <a:pt x="0" y="0"/>
                </a:moveTo>
                <a:lnTo>
                  <a:pt x="2167735" y="0"/>
                </a:lnTo>
                <a:lnTo>
                  <a:pt x="2167735" y="1084245"/>
                </a:lnTo>
                <a:lnTo>
                  <a:pt x="0" y="108424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42" id="42"/>
          <p:cNvSpPr/>
          <p:nvPr/>
        </p:nvSpPr>
        <p:spPr>
          <a:xfrm flipH="true">
            <a:off x="291939" y="3706922"/>
            <a:ext cx="0" cy="4060273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3" id="43"/>
          <p:cNvSpPr txBox="true"/>
          <p:nvPr/>
        </p:nvSpPr>
        <p:spPr>
          <a:xfrm rot="0">
            <a:off x="5799418" y="7765099"/>
            <a:ext cx="3869123" cy="3591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83"/>
              </a:lnSpc>
              <a:spcBef>
                <a:spcPct val="0"/>
              </a:spcBef>
            </a:pPr>
            <a:r>
              <a:rPr lang="en-US" b="true" sz="2059">
                <a:solidFill>
                  <a:srgbClr val="000000"/>
                </a:solidFill>
                <a:latin typeface="Cocomat Pro Bold"/>
                <a:ea typeface="Cocomat Pro Bold"/>
                <a:cs typeface="Cocomat Pro Bold"/>
                <a:sym typeface="Cocomat Pro Bold"/>
              </a:rPr>
              <a:t>medio_pago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4493206" y="4354622"/>
            <a:ext cx="3950642" cy="3821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84"/>
              </a:lnSpc>
              <a:spcBef>
                <a:spcPct val="0"/>
              </a:spcBef>
            </a:pPr>
            <a:r>
              <a:rPr lang="en-US" b="true" sz="2203">
                <a:solidFill>
                  <a:srgbClr val="000000"/>
                </a:solidFill>
                <a:latin typeface="Cocomat Pro Bold"/>
                <a:ea typeface="Cocomat Pro Bold"/>
                <a:cs typeface="Cocomat Pro Bold"/>
                <a:sym typeface="Cocomat Pro Bold"/>
              </a:rPr>
              <a:t>categoría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1491211" y="2653698"/>
            <a:ext cx="3950642" cy="3586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4"/>
              </a:lnSpc>
              <a:spcBef>
                <a:spcPct val="0"/>
              </a:spcBef>
            </a:pPr>
            <a:r>
              <a:rPr lang="en-US" b="true" sz="2003">
                <a:solidFill>
                  <a:srgbClr val="000000"/>
                </a:solidFill>
                <a:latin typeface="Cocomat Pro Bold"/>
                <a:ea typeface="Cocomat Pro Bold"/>
                <a:cs typeface="Cocomat Pro Bold"/>
                <a:sym typeface="Cocomat Pro Bold"/>
              </a:rPr>
              <a:t>id_ventas (FK)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1573411" y="4196369"/>
            <a:ext cx="3918304" cy="3331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35"/>
              </a:lnSpc>
              <a:spcBef>
                <a:spcPct val="0"/>
              </a:spcBef>
            </a:pPr>
            <a:r>
              <a:rPr lang="en-US" b="true" sz="1882">
                <a:solidFill>
                  <a:srgbClr val="000000"/>
                </a:solidFill>
                <a:latin typeface="Cocomat Pro Bold"/>
                <a:ea typeface="Cocomat Pro Bold"/>
                <a:cs typeface="Cocomat Pro Bold"/>
                <a:sym typeface="Cocomat Pro Bold"/>
              </a:rPr>
              <a:t>id_productos </a:t>
            </a:r>
            <a:r>
              <a:rPr lang="en-US" b="true" sz="1882">
                <a:solidFill>
                  <a:srgbClr val="000000"/>
                </a:solidFill>
                <a:latin typeface="Cocomat Pro Bold"/>
                <a:ea typeface="Cocomat Pro Bold"/>
                <a:cs typeface="Cocomat Pro Bold"/>
                <a:sym typeface="Cocomat Pro Bold"/>
              </a:rPr>
              <a:t>(FK)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11620126" y="5599473"/>
            <a:ext cx="3950642" cy="3821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84"/>
              </a:lnSpc>
              <a:spcBef>
                <a:spcPct val="0"/>
              </a:spcBef>
            </a:pPr>
            <a:r>
              <a:rPr lang="en-US" b="true" sz="2203">
                <a:solidFill>
                  <a:srgbClr val="000000"/>
                </a:solidFill>
                <a:latin typeface="Cocomat Pro Bold"/>
                <a:ea typeface="Cocomat Pro Bold"/>
                <a:cs typeface="Cocomat Pro Bold"/>
                <a:sym typeface="Cocomat Pro Bold"/>
              </a:rPr>
              <a:t>cantidad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11683011" y="7083431"/>
            <a:ext cx="3950642" cy="3821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84"/>
              </a:lnSpc>
              <a:spcBef>
                <a:spcPct val="0"/>
              </a:spcBef>
            </a:pPr>
            <a:r>
              <a:rPr lang="en-US" b="true" sz="2203">
                <a:solidFill>
                  <a:srgbClr val="000000"/>
                </a:solidFill>
                <a:latin typeface="Cocomat Pro Bold"/>
                <a:ea typeface="Cocomat Pro Bold"/>
                <a:cs typeface="Cocomat Pro Bold"/>
                <a:sym typeface="Cocomat Pro Bold"/>
              </a:rPr>
              <a:t>precio_unitario</a:t>
            </a:r>
          </a:p>
        </p:txBody>
      </p:sp>
      <p:sp>
        <p:nvSpPr>
          <p:cNvPr name="AutoShape 49" id="49"/>
          <p:cNvSpPr/>
          <p:nvPr/>
        </p:nvSpPr>
        <p:spPr>
          <a:xfrm flipV="true">
            <a:off x="273970" y="6371744"/>
            <a:ext cx="609355" cy="17298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0" id="50"/>
          <p:cNvSpPr/>
          <p:nvPr/>
        </p:nvSpPr>
        <p:spPr>
          <a:xfrm flipV="true">
            <a:off x="292480" y="7385783"/>
            <a:ext cx="609355" cy="17298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1" id="51"/>
          <p:cNvSpPr/>
          <p:nvPr/>
        </p:nvSpPr>
        <p:spPr>
          <a:xfrm flipH="true" flipV="true">
            <a:off x="6069083" y="2235209"/>
            <a:ext cx="116207" cy="6345542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2" id="52"/>
          <p:cNvSpPr/>
          <p:nvPr/>
        </p:nvSpPr>
        <p:spPr>
          <a:xfrm>
            <a:off x="5578940" y="6656239"/>
            <a:ext cx="1212701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3" id="53"/>
          <p:cNvSpPr/>
          <p:nvPr/>
        </p:nvSpPr>
        <p:spPr>
          <a:xfrm flipH="false" flipV="false" rot="0">
            <a:off x="6454956" y="6080276"/>
            <a:ext cx="1979307" cy="989999"/>
          </a:xfrm>
          <a:custGeom>
            <a:avLst/>
            <a:gdLst/>
            <a:ahLst/>
            <a:cxnLst/>
            <a:rect r="r" b="b" t="t" l="l"/>
            <a:pathLst>
              <a:path h="989999" w="1979307">
                <a:moveTo>
                  <a:pt x="0" y="0"/>
                </a:moveTo>
                <a:lnTo>
                  <a:pt x="1979307" y="0"/>
                </a:lnTo>
                <a:lnTo>
                  <a:pt x="1979307" y="989999"/>
                </a:lnTo>
                <a:lnTo>
                  <a:pt x="0" y="98999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54" id="54"/>
          <p:cNvSpPr/>
          <p:nvPr/>
        </p:nvSpPr>
        <p:spPr>
          <a:xfrm flipV="true">
            <a:off x="6119925" y="8147352"/>
            <a:ext cx="602824" cy="27542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5" id="55"/>
          <p:cNvSpPr/>
          <p:nvPr/>
        </p:nvSpPr>
        <p:spPr>
          <a:xfrm flipH="true">
            <a:off x="9141673" y="2595967"/>
            <a:ext cx="0" cy="4060273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6" id="56"/>
          <p:cNvSpPr/>
          <p:nvPr/>
        </p:nvSpPr>
        <p:spPr>
          <a:xfrm flipV="true">
            <a:off x="9116993" y="5051576"/>
            <a:ext cx="431990" cy="53347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7" id="57"/>
          <p:cNvSpPr/>
          <p:nvPr/>
        </p:nvSpPr>
        <p:spPr>
          <a:xfrm>
            <a:off x="9167129" y="6483379"/>
            <a:ext cx="212042" cy="91897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58" id="58"/>
          <p:cNvSpPr txBox="true"/>
          <p:nvPr/>
        </p:nvSpPr>
        <p:spPr>
          <a:xfrm rot="0">
            <a:off x="5462390" y="6332686"/>
            <a:ext cx="3869123" cy="3848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20"/>
              </a:lnSpc>
              <a:spcBef>
                <a:spcPct val="0"/>
              </a:spcBef>
            </a:pPr>
            <a:r>
              <a:rPr lang="en-US" b="true" sz="2157">
                <a:solidFill>
                  <a:srgbClr val="000000"/>
                </a:solidFill>
                <a:latin typeface="Cocomat Pro Bold"/>
                <a:ea typeface="Cocomat Pro Bold"/>
                <a:cs typeface="Cocomat Pro Bold"/>
                <a:sym typeface="Cocomat Pro Bold"/>
              </a:rPr>
              <a:t>fecha</a:t>
            </a:r>
          </a:p>
        </p:txBody>
      </p:sp>
      <p:sp>
        <p:nvSpPr>
          <p:cNvPr name="Freeform 59" id="59"/>
          <p:cNvSpPr/>
          <p:nvPr/>
        </p:nvSpPr>
        <p:spPr>
          <a:xfrm flipH="false" flipV="false" rot="0">
            <a:off x="3667959" y="6080276"/>
            <a:ext cx="2029652" cy="1015180"/>
          </a:xfrm>
          <a:custGeom>
            <a:avLst/>
            <a:gdLst/>
            <a:ahLst/>
            <a:cxnLst/>
            <a:rect r="r" b="b" t="t" l="l"/>
            <a:pathLst>
              <a:path h="1015180" w="2029652">
                <a:moveTo>
                  <a:pt x="0" y="0"/>
                </a:moveTo>
                <a:lnTo>
                  <a:pt x="2029653" y="0"/>
                </a:lnTo>
                <a:lnTo>
                  <a:pt x="2029653" y="1015181"/>
                </a:lnTo>
                <a:lnTo>
                  <a:pt x="0" y="101518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0" id="60"/>
          <p:cNvSpPr txBox="true"/>
          <p:nvPr/>
        </p:nvSpPr>
        <p:spPr>
          <a:xfrm rot="0">
            <a:off x="2811861" y="6285078"/>
            <a:ext cx="3869123" cy="6670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09"/>
              </a:lnSpc>
            </a:pPr>
            <a:r>
              <a:rPr lang="en-US" sz="1863" b="true">
                <a:solidFill>
                  <a:srgbClr val="000000"/>
                </a:solidFill>
                <a:latin typeface="Cocomat Pro Bold"/>
                <a:ea typeface="Cocomat Pro Bold"/>
                <a:cs typeface="Cocomat Pro Bold"/>
                <a:sym typeface="Cocomat Pro Bold"/>
              </a:rPr>
              <a:t>id_vendedor </a:t>
            </a:r>
          </a:p>
          <a:p>
            <a:pPr algn="ctr">
              <a:lnSpc>
                <a:spcPts val="2609"/>
              </a:lnSpc>
              <a:spcBef>
                <a:spcPct val="0"/>
              </a:spcBef>
            </a:pPr>
            <a:r>
              <a:rPr lang="en-US" b="true" sz="1863">
                <a:solidFill>
                  <a:srgbClr val="000000"/>
                </a:solidFill>
                <a:latin typeface="Cocomat Pro Bold"/>
                <a:ea typeface="Cocomat Pro Bold"/>
                <a:cs typeface="Cocomat Pro Bold"/>
                <a:sym typeface="Cocomat Pro Bold"/>
              </a:rPr>
              <a:t>(FK)</a:t>
            </a:r>
          </a:p>
        </p:txBody>
      </p:sp>
      <p:sp>
        <p:nvSpPr>
          <p:cNvPr name="Freeform 61" id="61"/>
          <p:cNvSpPr/>
          <p:nvPr/>
        </p:nvSpPr>
        <p:spPr>
          <a:xfrm flipH="false" flipV="false" rot="0">
            <a:off x="15536565" y="5269843"/>
            <a:ext cx="2021009" cy="1010857"/>
          </a:xfrm>
          <a:custGeom>
            <a:avLst/>
            <a:gdLst/>
            <a:ahLst/>
            <a:cxnLst/>
            <a:rect r="r" b="b" t="t" l="l"/>
            <a:pathLst>
              <a:path h="1010857" w="2021009">
                <a:moveTo>
                  <a:pt x="0" y="0"/>
                </a:moveTo>
                <a:lnTo>
                  <a:pt x="2021009" y="0"/>
                </a:lnTo>
                <a:lnTo>
                  <a:pt x="2021009" y="1010857"/>
                </a:lnTo>
                <a:lnTo>
                  <a:pt x="0" y="101085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2" id="62"/>
          <p:cNvSpPr txBox="true"/>
          <p:nvPr/>
        </p:nvSpPr>
        <p:spPr>
          <a:xfrm rot="0">
            <a:off x="14571749" y="5554649"/>
            <a:ext cx="3950642" cy="3821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84"/>
              </a:lnSpc>
              <a:spcBef>
                <a:spcPct val="0"/>
              </a:spcBef>
            </a:pPr>
            <a:r>
              <a:rPr lang="en-US" b="true" sz="2203">
                <a:solidFill>
                  <a:srgbClr val="000000"/>
                </a:solidFill>
                <a:latin typeface="Cocomat Pro Bold"/>
                <a:ea typeface="Cocomat Pro Bold"/>
                <a:cs typeface="Cocomat Pro Bold"/>
                <a:sym typeface="Cocomat Pro Bold"/>
              </a:rPr>
              <a:t>precio</a:t>
            </a:r>
          </a:p>
        </p:txBody>
      </p:sp>
      <p:sp>
        <p:nvSpPr>
          <p:cNvPr name="AutoShape 63" id="63"/>
          <p:cNvSpPr/>
          <p:nvPr/>
        </p:nvSpPr>
        <p:spPr>
          <a:xfrm>
            <a:off x="12033927" y="2012402"/>
            <a:ext cx="104775" cy="5118654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4" id="64"/>
          <p:cNvSpPr/>
          <p:nvPr/>
        </p:nvSpPr>
        <p:spPr>
          <a:xfrm flipV="true">
            <a:off x="12099566" y="6966914"/>
            <a:ext cx="609355" cy="17298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5" id="65"/>
          <p:cNvSpPr/>
          <p:nvPr/>
        </p:nvSpPr>
        <p:spPr>
          <a:xfrm flipH="true">
            <a:off x="14993157" y="2063217"/>
            <a:ext cx="0" cy="4060273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6" id="66"/>
          <p:cNvSpPr/>
          <p:nvPr/>
        </p:nvSpPr>
        <p:spPr>
          <a:xfrm flipV="true">
            <a:off x="14993697" y="2901240"/>
            <a:ext cx="609355" cy="17298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7" id="67"/>
          <p:cNvSpPr/>
          <p:nvPr/>
        </p:nvSpPr>
        <p:spPr>
          <a:xfrm flipV="true">
            <a:off x="14960873" y="4350109"/>
            <a:ext cx="609355" cy="17298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8" id="68"/>
          <p:cNvSpPr/>
          <p:nvPr/>
        </p:nvSpPr>
        <p:spPr>
          <a:xfrm flipV="true">
            <a:off x="14961414" y="5898676"/>
            <a:ext cx="609355" cy="17298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69" id="69"/>
          <p:cNvSpPr txBox="true"/>
          <p:nvPr/>
        </p:nvSpPr>
        <p:spPr>
          <a:xfrm rot="0">
            <a:off x="14974107" y="1377479"/>
            <a:ext cx="1811387" cy="6349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04"/>
              </a:lnSpc>
              <a:spcBef>
                <a:spcPct val="0"/>
              </a:spcBef>
            </a:pPr>
            <a:r>
              <a:rPr lang="en-US" sz="3503">
                <a:solidFill>
                  <a:srgbClr val="000000"/>
                </a:solidFill>
                <a:latin typeface="Scripter"/>
                <a:ea typeface="Scripter"/>
                <a:cs typeface="Scripter"/>
                <a:sym typeface="Scripter"/>
              </a:rPr>
              <a:t>productos</a:t>
            </a:r>
          </a:p>
        </p:txBody>
      </p:sp>
      <p:sp>
        <p:nvSpPr>
          <p:cNvPr name="TextBox 70" id="70"/>
          <p:cNvSpPr txBox="true"/>
          <p:nvPr/>
        </p:nvSpPr>
        <p:spPr>
          <a:xfrm rot="0">
            <a:off x="5296520" y="1365000"/>
            <a:ext cx="1378571" cy="7373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62"/>
              </a:lnSpc>
              <a:spcBef>
                <a:spcPct val="0"/>
              </a:spcBef>
            </a:pPr>
            <a:r>
              <a:rPr lang="en-US" sz="4116">
                <a:solidFill>
                  <a:srgbClr val="000000"/>
                </a:solidFill>
                <a:latin typeface="Scripter"/>
                <a:ea typeface="Scripter"/>
                <a:cs typeface="Scripter"/>
                <a:sym typeface="Scripter"/>
              </a:rPr>
              <a:t>ventas</a:t>
            </a:r>
          </a:p>
        </p:txBody>
      </p:sp>
      <p:sp>
        <p:nvSpPr>
          <p:cNvPr name="TextBox 71" id="71"/>
          <p:cNvSpPr txBox="true"/>
          <p:nvPr/>
        </p:nvSpPr>
        <p:spPr>
          <a:xfrm rot="0">
            <a:off x="272889" y="2848211"/>
            <a:ext cx="1690539" cy="7600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84"/>
              </a:lnSpc>
              <a:spcBef>
                <a:spcPct val="0"/>
              </a:spcBef>
            </a:pPr>
            <a:r>
              <a:rPr lang="en-US" sz="4203">
                <a:solidFill>
                  <a:srgbClr val="000000"/>
                </a:solidFill>
                <a:latin typeface="Scripter"/>
                <a:ea typeface="Scripter"/>
                <a:cs typeface="Scripter"/>
                <a:sym typeface="Scripter"/>
              </a:rPr>
              <a:t>clientes</a:t>
            </a:r>
          </a:p>
        </p:txBody>
      </p:sp>
      <p:sp>
        <p:nvSpPr>
          <p:cNvPr name="TextBox 72" id="72"/>
          <p:cNvSpPr txBox="true"/>
          <p:nvPr/>
        </p:nvSpPr>
        <p:spPr>
          <a:xfrm rot="0">
            <a:off x="8981732" y="1679684"/>
            <a:ext cx="1783556" cy="6844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24"/>
              </a:lnSpc>
              <a:spcBef>
                <a:spcPct val="0"/>
              </a:spcBef>
            </a:pPr>
            <a:r>
              <a:rPr lang="en-US" sz="3803">
                <a:solidFill>
                  <a:srgbClr val="000000"/>
                </a:solidFill>
                <a:latin typeface="Scripter"/>
                <a:ea typeface="Scripter"/>
                <a:cs typeface="Scripter"/>
                <a:sym typeface="Scripter"/>
              </a:rPr>
              <a:t>vendedor</a:t>
            </a:r>
          </a:p>
        </p:txBody>
      </p:sp>
      <p:sp>
        <p:nvSpPr>
          <p:cNvPr name="AutoShape 73" id="73"/>
          <p:cNvSpPr/>
          <p:nvPr/>
        </p:nvSpPr>
        <p:spPr>
          <a:xfrm flipV="true">
            <a:off x="1406756" y="1835962"/>
            <a:ext cx="3763432" cy="874886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74" id="74"/>
          <p:cNvSpPr/>
          <p:nvPr/>
        </p:nvSpPr>
        <p:spPr>
          <a:xfrm flipH="false" flipV="false" rot="0">
            <a:off x="2376535" y="1232660"/>
            <a:ext cx="1783161" cy="1783161"/>
          </a:xfrm>
          <a:custGeom>
            <a:avLst/>
            <a:gdLst/>
            <a:ahLst/>
            <a:cxnLst/>
            <a:rect r="r" b="b" t="t" l="l"/>
            <a:pathLst>
              <a:path h="1783161" w="1783161">
                <a:moveTo>
                  <a:pt x="0" y="0"/>
                </a:moveTo>
                <a:lnTo>
                  <a:pt x="1783161" y="0"/>
                </a:lnTo>
                <a:lnTo>
                  <a:pt x="1783161" y="1783161"/>
                </a:lnTo>
                <a:lnTo>
                  <a:pt x="0" y="178316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5" id="75"/>
          <p:cNvSpPr txBox="true"/>
          <p:nvPr/>
        </p:nvSpPr>
        <p:spPr>
          <a:xfrm rot="0">
            <a:off x="1333554" y="1909931"/>
            <a:ext cx="3869123" cy="416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03"/>
              </a:lnSpc>
              <a:spcBef>
                <a:spcPct val="0"/>
              </a:spcBef>
            </a:pPr>
            <a:r>
              <a:rPr lang="en-US" b="true" sz="2359">
                <a:solidFill>
                  <a:srgbClr val="000000"/>
                </a:solidFill>
                <a:latin typeface="Cocomat Pro Bold"/>
                <a:ea typeface="Cocomat Pro Bold"/>
                <a:cs typeface="Cocomat Pro Bold"/>
                <a:sym typeface="Cocomat Pro Bold"/>
              </a:rPr>
              <a:t>realizan</a:t>
            </a:r>
          </a:p>
        </p:txBody>
      </p:sp>
      <p:sp>
        <p:nvSpPr>
          <p:cNvPr name="AutoShape 76" id="76"/>
          <p:cNvSpPr/>
          <p:nvPr/>
        </p:nvSpPr>
        <p:spPr>
          <a:xfrm>
            <a:off x="6856726" y="1694305"/>
            <a:ext cx="2088755" cy="401223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77" id="77"/>
          <p:cNvSpPr/>
          <p:nvPr/>
        </p:nvSpPr>
        <p:spPr>
          <a:xfrm flipH="false" flipV="false" rot="0">
            <a:off x="7338146" y="1274456"/>
            <a:ext cx="1285676" cy="1285676"/>
          </a:xfrm>
          <a:custGeom>
            <a:avLst/>
            <a:gdLst/>
            <a:ahLst/>
            <a:cxnLst/>
            <a:rect r="r" b="b" t="t" l="l"/>
            <a:pathLst>
              <a:path h="1285676" w="1285676">
                <a:moveTo>
                  <a:pt x="0" y="0"/>
                </a:moveTo>
                <a:lnTo>
                  <a:pt x="1285676" y="0"/>
                </a:lnTo>
                <a:lnTo>
                  <a:pt x="1285676" y="1285676"/>
                </a:lnTo>
                <a:lnTo>
                  <a:pt x="0" y="128567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8" id="78"/>
          <p:cNvSpPr txBox="true"/>
          <p:nvPr/>
        </p:nvSpPr>
        <p:spPr>
          <a:xfrm rot="0">
            <a:off x="6046423" y="1637155"/>
            <a:ext cx="3869123" cy="416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03"/>
              </a:lnSpc>
              <a:spcBef>
                <a:spcPct val="0"/>
              </a:spcBef>
            </a:pPr>
            <a:r>
              <a:rPr lang="en-US" b="true" sz="2359">
                <a:solidFill>
                  <a:srgbClr val="000000"/>
                </a:solidFill>
                <a:latin typeface="Cocomat Pro Bold"/>
                <a:ea typeface="Cocomat Pro Bold"/>
                <a:cs typeface="Cocomat Pro Bold"/>
                <a:sym typeface="Cocomat Pro Bold"/>
              </a:rPr>
              <a:t>realizan</a:t>
            </a:r>
          </a:p>
        </p:txBody>
      </p:sp>
      <p:sp>
        <p:nvSpPr>
          <p:cNvPr name="AutoShape 79" id="79"/>
          <p:cNvSpPr/>
          <p:nvPr/>
        </p:nvSpPr>
        <p:spPr>
          <a:xfrm flipV="true">
            <a:off x="12667420" y="628747"/>
            <a:ext cx="965932" cy="83615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80" id="80"/>
          <p:cNvSpPr/>
          <p:nvPr/>
        </p:nvSpPr>
        <p:spPr>
          <a:xfrm flipH="false" flipV="false" rot="0">
            <a:off x="13365445" y="10524"/>
            <a:ext cx="1336281" cy="1336281"/>
          </a:xfrm>
          <a:custGeom>
            <a:avLst/>
            <a:gdLst/>
            <a:ahLst/>
            <a:cxnLst/>
            <a:rect r="r" b="b" t="t" l="l"/>
            <a:pathLst>
              <a:path h="1336281" w="1336281">
                <a:moveTo>
                  <a:pt x="0" y="0"/>
                </a:moveTo>
                <a:lnTo>
                  <a:pt x="1336281" y="0"/>
                </a:lnTo>
                <a:lnTo>
                  <a:pt x="1336281" y="1336281"/>
                </a:lnTo>
                <a:lnTo>
                  <a:pt x="0" y="133628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1" id="81"/>
          <p:cNvSpPr txBox="true"/>
          <p:nvPr/>
        </p:nvSpPr>
        <p:spPr>
          <a:xfrm rot="0">
            <a:off x="12138702" y="441822"/>
            <a:ext cx="3869123" cy="3737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23"/>
              </a:lnSpc>
              <a:spcBef>
                <a:spcPct val="0"/>
              </a:spcBef>
            </a:pPr>
            <a:r>
              <a:rPr lang="en-US" b="true" sz="2159">
                <a:solidFill>
                  <a:srgbClr val="000000"/>
                </a:solidFill>
                <a:latin typeface="Cocomat Pro Bold"/>
                <a:ea typeface="Cocomat Pro Bold"/>
                <a:cs typeface="Cocomat Pro Bold"/>
                <a:sym typeface="Cocomat Pro Bold"/>
              </a:rPr>
              <a:t>contiene</a:t>
            </a:r>
          </a:p>
        </p:txBody>
      </p:sp>
      <p:sp>
        <p:nvSpPr>
          <p:cNvPr name="Freeform 82" id="82"/>
          <p:cNvSpPr/>
          <p:nvPr/>
        </p:nvSpPr>
        <p:spPr>
          <a:xfrm flipH="false" flipV="false" rot="0">
            <a:off x="11189663" y="1168015"/>
            <a:ext cx="1819806" cy="956226"/>
          </a:xfrm>
          <a:custGeom>
            <a:avLst/>
            <a:gdLst/>
            <a:ahLst/>
            <a:cxnLst/>
            <a:rect r="r" b="b" t="t" l="l"/>
            <a:pathLst>
              <a:path h="956226" w="1819806">
                <a:moveTo>
                  <a:pt x="0" y="0"/>
                </a:moveTo>
                <a:lnTo>
                  <a:pt x="1819806" y="0"/>
                </a:lnTo>
                <a:lnTo>
                  <a:pt x="1819806" y="956226"/>
                </a:lnTo>
                <a:lnTo>
                  <a:pt x="0" y="95622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3" id="83"/>
          <p:cNvSpPr txBox="true"/>
          <p:nvPr/>
        </p:nvSpPr>
        <p:spPr>
          <a:xfrm rot="0">
            <a:off x="11189663" y="1388697"/>
            <a:ext cx="1814959" cy="4672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44"/>
              </a:lnSpc>
              <a:spcBef>
                <a:spcPct val="0"/>
              </a:spcBef>
            </a:pPr>
            <a:r>
              <a:rPr lang="en-US" sz="2603">
                <a:solidFill>
                  <a:srgbClr val="000000"/>
                </a:solidFill>
                <a:latin typeface="Scripter"/>
                <a:ea typeface="Scripter"/>
                <a:cs typeface="Scripter"/>
                <a:sym typeface="Scripter"/>
              </a:rPr>
              <a:t>detalle_venta</a:t>
            </a:r>
          </a:p>
        </p:txBody>
      </p:sp>
      <p:sp>
        <p:nvSpPr>
          <p:cNvPr name="TextBox 84" id="84"/>
          <p:cNvSpPr txBox="true"/>
          <p:nvPr/>
        </p:nvSpPr>
        <p:spPr>
          <a:xfrm rot="0">
            <a:off x="5822197" y="9057349"/>
            <a:ext cx="6886724" cy="8686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24"/>
              </a:lnSpc>
              <a:spcBef>
                <a:spcPct val="0"/>
              </a:spcBef>
            </a:pPr>
            <a:r>
              <a:rPr lang="en-US" sz="4803" u="sng">
                <a:solidFill>
                  <a:srgbClr val="000000"/>
                </a:solidFill>
                <a:latin typeface="Scripter"/>
                <a:ea typeface="Scripter"/>
                <a:cs typeface="Scripter"/>
                <a:sym typeface="Scripter"/>
              </a:rPr>
              <a:t>diagrama entidad-relación</a:t>
            </a:r>
          </a:p>
        </p:txBody>
      </p:sp>
      <p:sp>
        <p:nvSpPr>
          <p:cNvPr name="AutoShape 85" id="85"/>
          <p:cNvSpPr/>
          <p:nvPr/>
        </p:nvSpPr>
        <p:spPr>
          <a:xfrm flipV="true">
            <a:off x="6719153" y="780849"/>
            <a:ext cx="1454448" cy="565956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86" id="86"/>
          <p:cNvSpPr/>
          <p:nvPr/>
        </p:nvSpPr>
        <p:spPr>
          <a:xfrm flipH="false" flipV="false" rot="0">
            <a:off x="8154181" y="75345"/>
            <a:ext cx="1361095" cy="1361095"/>
          </a:xfrm>
          <a:custGeom>
            <a:avLst/>
            <a:gdLst/>
            <a:ahLst/>
            <a:cxnLst/>
            <a:rect r="r" b="b" t="t" l="l"/>
            <a:pathLst>
              <a:path h="1361095" w="1361095">
                <a:moveTo>
                  <a:pt x="0" y="0"/>
                </a:moveTo>
                <a:lnTo>
                  <a:pt x="1361095" y="0"/>
                </a:lnTo>
                <a:lnTo>
                  <a:pt x="1361095" y="1361095"/>
                </a:lnTo>
                <a:lnTo>
                  <a:pt x="0" y="136109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7" id="87"/>
          <p:cNvSpPr txBox="true"/>
          <p:nvPr/>
        </p:nvSpPr>
        <p:spPr>
          <a:xfrm rot="0">
            <a:off x="6896165" y="441933"/>
            <a:ext cx="3869123" cy="416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03"/>
              </a:lnSpc>
              <a:spcBef>
                <a:spcPct val="0"/>
              </a:spcBef>
            </a:pPr>
            <a:r>
              <a:rPr lang="en-US" b="true" sz="2359">
                <a:solidFill>
                  <a:srgbClr val="000000"/>
                </a:solidFill>
                <a:latin typeface="Cocomat Pro Bold"/>
                <a:ea typeface="Cocomat Pro Bold"/>
                <a:cs typeface="Cocomat Pro Bold"/>
                <a:sym typeface="Cocomat Pro Bold"/>
              </a:rPr>
              <a:t>contiene</a:t>
            </a:r>
          </a:p>
        </p:txBody>
      </p:sp>
      <p:sp>
        <p:nvSpPr>
          <p:cNvPr name="AutoShape 88" id="88"/>
          <p:cNvSpPr/>
          <p:nvPr/>
        </p:nvSpPr>
        <p:spPr>
          <a:xfrm flipH="true" flipV="true">
            <a:off x="9485862" y="682915"/>
            <a:ext cx="1648393" cy="66389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89" id="89"/>
          <p:cNvSpPr txBox="true"/>
          <p:nvPr/>
        </p:nvSpPr>
        <p:spPr>
          <a:xfrm rot="-1275302">
            <a:off x="913751" y="841362"/>
            <a:ext cx="3869123" cy="416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03"/>
              </a:lnSpc>
              <a:spcBef>
                <a:spcPct val="0"/>
              </a:spcBef>
            </a:pPr>
            <a:r>
              <a:rPr lang="en-US" b="true" sz="2359">
                <a:solidFill>
                  <a:srgbClr val="000000"/>
                </a:solidFill>
                <a:latin typeface="Cocomat Pro Bold"/>
                <a:ea typeface="Cocomat Pro Bold"/>
                <a:cs typeface="Cocomat Pro Bold"/>
                <a:sym typeface="Cocomat Pro Bold"/>
              </a:rPr>
              <a:t>1 - *</a:t>
            </a:r>
          </a:p>
        </p:txBody>
      </p:sp>
      <p:sp>
        <p:nvSpPr>
          <p:cNvPr name="TextBox 90" id="90"/>
          <p:cNvSpPr txBox="true"/>
          <p:nvPr/>
        </p:nvSpPr>
        <p:spPr>
          <a:xfrm rot="575515">
            <a:off x="6006270" y="2608513"/>
            <a:ext cx="3869123" cy="416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03"/>
              </a:lnSpc>
              <a:spcBef>
                <a:spcPct val="0"/>
              </a:spcBef>
            </a:pPr>
            <a:r>
              <a:rPr lang="en-US" b="true" sz="2359">
                <a:solidFill>
                  <a:srgbClr val="000000"/>
                </a:solidFill>
                <a:latin typeface="Cocomat Pro Bold"/>
                <a:ea typeface="Cocomat Pro Bold"/>
                <a:cs typeface="Cocomat Pro Bold"/>
                <a:sym typeface="Cocomat Pro Bold"/>
              </a:rPr>
              <a:t>* - 1</a:t>
            </a:r>
          </a:p>
        </p:txBody>
      </p:sp>
      <p:sp>
        <p:nvSpPr>
          <p:cNvPr name="TextBox 91" id="91"/>
          <p:cNvSpPr txBox="true"/>
          <p:nvPr/>
        </p:nvSpPr>
        <p:spPr>
          <a:xfrm rot="575515">
            <a:off x="8433958" y="528550"/>
            <a:ext cx="3869123" cy="416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03"/>
              </a:lnSpc>
              <a:spcBef>
                <a:spcPct val="0"/>
              </a:spcBef>
            </a:pPr>
            <a:r>
              <a:rPr lang="en-US" b="true" sz="2359">
                <a:solidFill>
                  <a:srgbClr val="000000"/>
                </a:solidFill>
                <a:latin typeface="Cocomat Pro Bold"/>
                <a:ea typeface="Cocomat Pro Bold"/>
                <a:cs typeface="Cocomat Pro Bold"/>
                <a:sym typeface="Cocomat Pro Bold"/>
              </a:rPr>
              <a:t>1 - *</a:t>
            </a:r>
          </a:p>
        </p:txBody>
      </p:sp>
      <p:sp>
        <p:nvSpPr>
          <p:cNvPr name="TextBox 92" id="92"/>
          <p:cNvSpPr txBox="true"/>
          <p:nvPr/>
        </p:nvSpPr>
        <p:spPr>
          <a:xfrm rot="1740096">
            <a:off x="13699696" y="603089"/>
            <a:ext cx="3869123" cy="4232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43"/>
              </a:lnSpc>
              <a:spcBef>
                <a:spcPct val="0"/>
              </a:spcBef>
            </a:pPr>
            <a:r>
              <a:rPr lang="en-US" b="true" sz="2459">
                <a:solidFill>
                  <a:srgbClr val="000000"/>
                </a:solidFill>
                <a:latin typeface="Cocomat Pro Bold"/>
                <a:ea typeface="Cocomat Pro Bold"/>
                <a:cs typeface="Cocomat Pro Bold"/>
                <a:sym typeface="Cocomat Pro Bold"/>
              </a:rPr>
              <a:t>1 - *</a:t>
            </a:r>
          </a:p>
        </p:txBody>
      </p:sp>
      <p:sp>
        <p:nvSpPr>
          <p:cNvPr name="Freeform 93" id="93">
            <a:hlinkClick r:id="rId10" action="ppaction://hlinksldjump"/>
          </p:cNvPr>
          <p:cNvSpPr/>
          <p:nvPr/>
        </p:nvSpPr>
        <p:spPr>
          <a:xfrm flipH="false" flipV="false" rot="0">
            <a:off x="15498771" y="9069568"/>
            <a:ext cx="920566" cy="920566"/>
          </a:xfrm>
          <a:custGeom>
            <a:avLst/>
            <a:gdLst/>
            <a:ahLst/>
            <a:cxnLst/>
            <a:rect r="r" b="b" t="t" l="l"/>
            <a:pathLst>
              <a:path h="920566" w="920566">
                <a:moveTo>
                  <a:pt x="0" y="0"/>
                </a:moveTo>
                <a:lnTo>
                  <a:pt x="920566" y="0"/>
                </a:lnTo>
                <a:lnTo>
                  <a:pt x="920566" y="920565"/>
                </a:lnTo>
                <a:lnTo>
                  <a:pt x="0" y="92056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4" id="94">
            <a:hlinkClick r:id="rId11" action="ppaction://hlinksldjump"/>
          </p:cNvPr>
          <p:cNvSpPr/>
          <p:nvPr/>
        </p:nvSpPr>
        <p:spPr>
          <a:xfrm flipH="true" flipV="false" rot="0">
            <a:off x="16802504" y="9069568"/>
            <a:ext cx="920566" cy="920566"/>
          </a:xfrm>
          <a:custGeom>
            <a:avLst/>
            <a:gdLst/>
            <a:ahLst/>
            <a:cxnLst/>
            <a:rect r="r" b="b" t="t" l="l"/>
            <a:pathLst>
              <a:path h="920566" w="920566">
                <a:moveTo>
                  <a:pt x="920566" y="0"/>
                </a:moveTo>
                <a:lnTo>
                  <a:pt x="0" y="0"/>
                </a:lnTo>
                <a:lnTo>
                  <a:pt x="0" y="920565"/>
                </a:lnTo>
                <a:lnTo>
                  <a:pt x="920566" y="920565"/>
                </a:lnTo>
                <a:lnTo>
                  <a:pt x="920566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E948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69453" y="1028700"/>
            <a:ext cx="6118857" cy="7648571"/>
          </a:xfrm>
          <a:custGeom>
            <a:avLst/>
            <a:gdLst/>
            <a:ahLst/>
            <a:cxnLst/>
            <a:rect r="r" b="b" t="t" l="l"/>
            <a:pathLst>
              <a:path h="7648571" w="6118857">
                <a:moveTo>
                  <a:pt x="0" y="0"/>
                </a:moveTo>
                <a:lnTo>
                  <a:pt x="6118857" y="0"/>
                </a:lnTo>
                <a:lnTo>
                  <a:pt x="6118857" y="7648571"/>
                </a:lnTo>
                <a:lnTo>
                  <a:pt x="0" y="764857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971288" y="158793"/>
            <a:ext cx="2551509" cy="10857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4"/>
              </a:lnSpc>
              <a:spcBef>
                <a:spcPct val="0"/>
              </a:spcBef>
            </a:pPr>
            <a:r>
              <a:rPr lang="en-US" sz="6002" u="sng">
                <a:solidFill>
                  <a:srgbClr val="000000"/>
                </a:solidFill>
                <a:latin typeface="Scripter"/>
                <a:ea typeface="Scripter"/>
                <a:cs typeface="Scripter"/>
                <a:sym typeface="Scripter"/>
              </a:rPr>
              <a:t>CLIENTES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6809104" y="1765205"/>
            <a:ext cx="11478896" cy="57203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954"/>
              </a:lnSpc>
            </a:pPr>
            <a:r>
              <a:rPr lang="en-US" sz="3538" b="true">
                <a:solidFill>
                  <a:srgbClr val="000000"/>
                </a:solidFill>
                <a:latin typeface="Cocomat Pro Bold"/>
                <a:ea typeface="Cocomat Pro Bold"/>
                <a:cs typeface="Cocomat Pro Bold"/>
                <a:sym typeface="Cocomat Pro Bold"/>
              </a:rPr>
              <a:t>En la tabla clientes tenemos los atributos:</a:t>
            </a:r>
          </a:p>
          <a:p>
            <a:pPr algn="just">
              <a:lnSpc>
                <a:spcPts val="4954"/>
              </a:lnSpc>
            </a:pPr>
            <a:r>
              <a:rPr lang="en-US" sz="3538" b="true">
                <a:solidFill>
                  <a:srgbClr val="000000"/>
                </a:solidFill>
                <a:latin typeface="Cocomat Pro Bold"/>
                <a:ea typeface="Cocomat Pro Bold"/>
                <a:cs typeface="Cocomat Pro Bold"/>
                <a:sym typeface="Cocomat Pro Bold"/>
              </a:rPr>
              <a:t>• id_cliente INT NOT NULL AUTO_INCREM PK</a:t>
            </a:r>
          </a:p>
          <a:p>
            <a:pPr algn="just">
              <a:lnSpc>
                <a:spcPts val="4954"/>
              </a:lnSpc>
            </a:pPr>
            <a:r>
              <a:rPr lang="en-US" sz="3538" b="true">
                <a:solidFill>
                  <a:srgbClr val="000000"/>
                </a:solidFill>
                <a:latin typeface="Cocomat Pro Bold"/>
                <a:ea typeface="Cocomat Pro Bold"/>
                <a:cs typeface="Cocomat Pro Bold"/>
                <a:sym typeface="Cocomat Pro Bold"/>
              </a:rPr>
              <a:t>• nombre_apellido VARCHAR</a:t>
            </a:r>
          </a:p>
          <a:p>
            <a:pPr algn="just">
              <a:lnSpc>
                <a:spcPts val="4954"/>
              </a:lnSpc>
            </a:pPr>
            <a:r>
              <a:rPr lang="en-US" sz="3538" b="true">
                <a:solidFill>
                  <a:srgbClr val="000000"/>
                </a:solidFill>
                <a:latin typeface="Cocomat Pro Bold"/>
                <a:ea typeface="Cocomat Pro Bold"/>
                <a:cs typeface="Cocomat Pro Bold"/>
                <a:sym typeface="Cocomat Pro Bold"/>
              </a:rPr>
              <a:t>• email VARCHAR UNIQUE</a:t>
            </a:r>
          </a:p>
          <a:p>
            <a:pPr algn="just">
              <a:lnSpc>
                <a:spcPts val="4954"/>
              </a:lnSpc>
            </a:pPr>
          </a:p>
          <a:p>
            <a:pPr algn="just">
              <a:lnSpc>
                <a:spcPts val="4954"/>
              </a:lnSpc>
              <a:spcBef>
                <a:spcPct val="0"/>
              </a:spcBef>
            </a:pPr>
            <a:r>
              <a:rPr lang="en-US" b="true" sz="3538">
                <a:solidFill>
                  <a:srgbClr val="000000"/>
                </a:solidFill>
                <a:latin typeface="Cocomat Pro Bold"/>
                <a:ea typeface="Cocomat Pro Bold"/>
                <a:cs typeface="Cocomat Pro Bold"/>
                <a:sym typeface="Cocomat Pro Bold"/>
              </a:rPr>
              <a:t>La tabla clientes contiene el identificador del cliente, nombre, apellido y el email de contacto con su respectiva PK que es el id_cliente que establece la relación con las demás tablas. </a:t>
            </a:r>
          </a:p>
        </p:txBody>
      </p:sp>
      <p:sp>
        <p:nvSpPr>
          <p:cNvPr name="Freeform 5" id="5">
            <a:hlinkClick r:id="rId5" action="ppaction://hlinksldjump"/>
          </p:cNvPr>
          <p:cNvSpPr/>
          <p:nvPr/>
        </p:nvSpPr>
        <p:spPr>
          <a:xfrm flipH="false" flipV="false" rot="0">
            <a:off x="15498771" y="9069568"/>
            <a:ext cx="920566" cy="920566"/>
          </a:xfrm>
          <a:custGeom>
            <a:avLst/>
            <a:gdLst/>
            <a:ahLst/>
            <a:cxnLst/>
            <a:rect r="r" b="b" t="t" l="l"/>
            <a:pathLst>
              <a:path h="920566" w="920566">
                <a:moveTo>
                  <a:pt x="0" y="0"/>
                </a:moveTo>
                <a:lnTo>
                  <a:pt x="920566" y="0"/>
                </a:lnTo>
                <a:lnTo>
                  <a:pt x="920566" y="920565"/>
                </a:lnTo>
                <a:lnTo>
                  <a:pt x="0" y="92056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>
            <a:hlinkClick r:id="rId6" action="ppaction://hlinksldjump"/>
          </p:cNvPr>
          <p:cNvSpPr/>
          <p:nvPr/>
        </p:nvSpPr>
        <p:spPr>
          <a:xfrm flipH="true" flipV="false" rot="0">
            <a:off x="16802504" y="9069568"/>
            <a:ext cx="920566" cy="920566"/>
          </a:xfrm>
          <a:custGeom>
            <a:avLst/>
            <a:gdLst/>
            <a:ahLst/>
            <a:cxnLst/>
            <a:rect r="r" b="b" t="t" l="l"/>
            <a:pathLst>
              <a:path h="920566" w="920566">
                <a:moveTo>
                  <a:pt x="920566" y="0"/>
                </a:moveTo>
                <a:lnTo>
                  <a:pt x="0" y="0"/>
                </a:lnTo>
                <a:lnTo>
                  <a:pt x="0" y="920565"/>
                </a:lnTo>
                <a:lnTo>
                  <a:pt x="920566" y="920565"/>
                </a:lnTo>
                <a:lnTo>
                  <a:pt x="920566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E948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682999"/>
            <a:ext cx="5247810" cy="8921003"/>
          </a:xfrm>
          <a:custGeom>
            <a:avLst/>
            <a:gdLst/>
            <a:ahLst/>
            <a:cxnLst/>
            <a:rect r="r" b="b" t="t" l="l"/>
            <a:pathLst>
              <a:path h="8921003" w="5247810">
                <a:moveTo>
                  <a:pt x="0" y="0"/>
                </a:moveTo>
                <a:lnTo>
                  <a:pt x="5247810" y="0"/>
                </a:lnTo>
                <a:lnTo>
                  <a:pt x="5247810" y="8921002"/>
                </a:lnTo>
                <a:lnTo>
                  <a:pt x="0" y="892100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2271" r="0" b="-2271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109304" y="231708"/>
            <a:ext cx="2177951" cy="10857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4"/>
              </a:lnSpc>
              <a:spcBef>
                <a:spcPct val="0"/>
              </a:spcBef>
            </a:pPr>
            <a:r>
              <a:rPr lang="en-US" sz="6002" u="sng">
                <a:solidFill>
                  <a:srgbClr val="000000"/>
                </a:solidFill>
                <a:latin typeface="Scripter"/>
                <a:ea typeface="Scripter"/>
                <a:cs typeface="Scripter"/>
                <a:sym typeface="Scripter"/>
              </a:rPr>
              <a:t>VENTAS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6563059" y="1482968"/>
            <a:ext cx="11724941" cy="76348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954"/>
              </a:lnSpc>
            </a:pPr>
            <a:r>
              <a:rPr lang="en-US" sz="3538" b="true">
                <a:solidFill>
                  <a:srgbClr val="000000"/>
                </a:solidFill>
                <a:latin typeface="Cocomat Pro Bold"/>
                <a:ea typeface="Cocomat Pro Bold"/>
                <a:cs typeface="Cocomat Pro Bold"/>
                <a:sym typeface="Cocomat Pro Bold"/>
              </a:rPr>
              <a:t>En la tabla ventas tenemos los atributos:</a:t>
            </a:r>
          </a:p>
          <a:p>
            <a:pPr algn="just">
              <a:lnSpc>
                <a:spcPts val="4954"/>
              </a:lnSpc>
            </a:pPr>
            <a:r>
              <a:rPr lang="en-US" sz="3538" b="true">
                <a:solidFill>
                  <a:srgbClr val="000000"/>
                </a:solidFill>
                <a:latin typeface="Cocomat Pro Bold"/>
                <a:ea typeface="Cocomat Pro Bold"/>
                <a:cs typeface="Cocomat Pro Bold"/>
                <a:sym typeface="Cocomat Pro Bold"/>
              </a:rPr>
              <a:t>• id_ventas  INT NOT NULL AUTO_INCREM PK</a:t>
            </a:r>
          </a:p>
          <a:p>
            <a:pPr algn="just">
              <a:lnSpc>
                <a:spcPts val="4954"/>
              </a:lnSpc>
            </a:pPr>
            <a:r>
              <a:rPr lang="en-US" sz="3538" b="true">
                <a:solidFill>
                  <a:srgbClr val="000000"/>
                </a:solidFill>
                <a:latin typeface="Cocomat Pro Bold"/>
                <a:ea typeface="Cocomat Pro Bold"/>
                <a:cs typeface="Cocomat Pro Bold"/>
                <a:sym typeface="Cocomat Pro Bold"/>
              </a:rPr>
              <a:t>• cliente VARCHAR</a:t>
            </a:r>
          </a:p>
          <a:p>
            <a:pPr algn="just">
              <a:lnSpc>
                <a:spcPts val="4954"/>
              </a:lnSpc>
            </a:pPr>
            <a:r>
              <a:rPr lang="en-US" sz="3538" b="true">
                <a:solidFill>
                  <a:srgbClr val="000000"/>
                </a:solidFill>
                <a:latin typeface="Cocomat Pro Bold"/>
                <a:ea typeface="Cocomat Pro Bold"/>
                <a:cs typeface="Cocomat Pro Bold"/>
                <a:sym typeface="Cocomat Pro Bold"/>
              </a:rPr>
              <a:t>• producto VARCHAR</a:t>
            </a:r>
          </a:p>
          <a:p>
            <a:pPr algn="just">
              <a:lnSpc>
                <a:spcPts val="4954"/>
              </a:lnSpc>
            </a:pPr>
            <a:r>
              <a:rPr lang="en-US" sz="3538" b="true">
                <a:solidFill>
                  <a:srgbClr val="000000"/>
                </a:solidFill>
                <a:latin typeface="Cocomat Pro Bold"/>
                <a:ea typeface="Cocomat Pro Bold"/>
                <a:cs typeface="Cocomat Pro Bold"/>
                <a:sym typeface="Cocomat Pro Bold"/>
              </a:rPr>
              <a:t>• importe_total INT</a:t>
            </a:r>
          </a:p>
          <a:p>
            <a:pPr algn="just">
              <a:lnSpc>
                <a:spcPts val="4954"/>
              </a:lnSpc>
            </a:pPr>
            <a:r>
              <a:rPr lang="en-US" sz="3538" b="true">
                <a:solidFill>
                  <a:srgbClr val="000000"/>
                </a:solidFill>
                <a:latin typeface="Cocomat Pro Bold"/>
                <a:ea typeface="Cocomat Pro Bold"/>
                <a:cs typeface="Cocomat Pro Bold"/>
                <a:sym typeface="Cocomat Pro Bold"/>
              </a:rPr>
              <a:t>• fecha DATE</a:t>
            </a:r>
          </a:p>
          <a:p>
            <a:pPr algn="just">
              <a:lnSpc>
                <a:spcPts val="4954"/>
              </a:lnSpc>
            </a:pPr>
            <a:r>
              <a:rPr lang="en-US" sz="3538" b="true">
                <a:solidFill>
                  <a:srgbClr val="000000"/>
                </a:solidFill>
                <a:latin typeface="Cocomat Pro Bold"/>
                <a:ea typeface="Cocomat Pro Bold"/>
                <a:cs typeface="Cocomat Pro Bold"/>
                <a:sym typeface="Cocomat Pro Bold"/>
              </a:rPr>
              <a:t>• medio_pago VARCHAR</a:t>
            </a:r>
          </a:p>
          <a:p>
            <a:pPr algn="just">
              <a:lnSpc>
                <a:spcPts val="4954"/>
              </a:lnSpc>
            </a:pPr>
          </a:p>
          <a:p>
            <a:pPr algn="just">
              <a:lnSpc>
                <a:spcPts val="4954"/>
              </a:lnSpc>
              <a:spcBef>
                <a:spcPct val="0"/>
              </a:spcBef>
            </a:pPr>
            <a:r>
              <a:rPr lang="en-US" b="true" sz="3538">
                <a:solidFill>
                  <a:srgbClr val="000000"/>
                </a:solidFill>
                <a:latin typeface="Cocomat Pro Bold"/>
                <a:ea typeface="Cocomat Pro Bold"/>
                <a:cs typeface="Cocomat Pro Bold"/>
                <a:sym typeface="Cocomat Pro Bold"/>
              </a:rPr>
              <a:t>La tabla ventas como PK e identificador al N° de la venta, cliente, producto, importe total, fecha y medio de pago siendo la PK id_ventas quien establece la relación con las demás tablas. </a:t>
            </a:r>
          </a:p>
        </p:txBody>
      </p:sp>
      <p:sp>
        <p:nvSpPr>
          <p:cNvPr name="Freeform 5" id="5">
            <a:hlinkClick r:id="rId5" action="ppaction://hlinksldjump"/>
          </p:cNvPr>
          <p:cNvSpPr/>
          <p:nvPr/>
        </p:nvSpPr>
        <p:spPr>
          <a:xfrm flipH="false" flipV="false" rot="0">
            <a:off x="15498771" y="9069568"/>
            <a:ext cx="920566" cy="920566"/>
          </a:xfrm>
          <a:custGeom>
            <a:avLst/>
            <a:gdLst/>
            <a:ahLst/>
            <a:cxnLst/>
            <a:rect r="r" b="b" t="t" l="l"/>
            <a:pathLst>
              <a:path h="920566" w="920566">
                <a:moveTo>
                  <a:pt x="0" y="0"/>
                </a:moveTo>
                <a:lnTo>
                  <a:pt x="920566" y="0"/>
                </a:lnTo>
                <a:lnTo>
                  <a:pt x="920566" y="920565"/>
                </a:lnTo>
                <a:lnTo>
                  <a:pt x="0" y="92056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>
            <a:hlinkClick r:id="rId6" action="ppaction://hlinksldjump"/>
          </p:cNvPr>
          <p:cNvSpPr/>
          <p:nvPr/>
        </p:nvSpPr>
        <p:spPr>
          <a:xfrm flipH="true" flipV="false" rot="0">
            <a:off x="16802504" y="9069568"/>
            <a:ext cx="920566" cy="920566"/>
          </a:xfrm>
          <a:custGeom>
            <a:avLst/>
            <a:gdLst/>
            <a:ahLst/>
            <a:cxnLst/>
            <a:rect r="r" b="b" t="t" l="l"/>
            <a:pathLst>
              <a:path h="920566" w="920566">
                <a:moveTo>
                  <a:pt x="920566" y="0"/>
                </a:moveTo>
                <a:lnTo>
                  <a:pt x="0" y="0"/>
                </a:lnTo>
                <a:lnTo>
                  <a:pt x="0" y="920565"/>
                </a:lnTo>
                <a:lnTo>
                  <a:pt x="920566" y="920565"/>
                </a:lnTo>
                <a:lnTo>
                  <a:pt x="920566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E948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44578" y="1028700"/>
            <a:ext cx="5501196" cy="8380658"/>
          </a:xfrm>
          <a:custGeom>
            <a:avLst/>
            <a:gdLst/>
            <a:ahLst/>
            <a:cxnLst/>
            <a:rect r="r" b="b" t="t" l="l"/>
            <a:pathLst>
              <a:path h="8380658" w="5501196">
                <a:moveTo>
                  <a:pt x="0" y="0"/>
                </a:moveTo>
                <a:lnTo>
                  <a:pt x="5501195" y="0"/>
                </a:lnTo>
                <a:lnTo>
                  <a:pt x="5501195" y="8380658"/>
                </a:lnTo>
                <a:lnTo>
                  <a:pt x="0" y="838065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8328" r="0" b="-832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547105" y="231708"/>
            <a:ext cx="3302347" cy="10857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4"/>
              </a:lnSpc>
              <a:spcBef>
                <a:spcPct val="0"/>
              </a:spcBef>
            </a:pPr>
            <a:r>
              <a:rPr lang="en-US" sz="6002" u="sng">
                <a:solidFill>
                  <a:srgbClr val="000000"/>
                </a:solidFill>
                <a:latin typeface="Scripter"/>
                <a:ea typeface="Scripter"/>
                <a:cs typeface="Scripter"/>
                <a:sym typeface="Scripter"/>
              </a:rPr>
              <a:t>productos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6226333" y="1926132"/>
            <a:ext cx="12061667" cy="63585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954"/>
              </a:lnSpc>
            </a:pPr>
            <a:r>
              <a:rPr lang="en-US" sz="3538" b="true">
                <a:solidFill>
                  <a:srgbClr val="000000"/>
                </a:solidFill>
                <a:latin typeface="Cocomat Pro Bold"/>
                <a:ea typeface="Cocomat Pro Bold"/>
                <a:cs typeface="Cocomat Pro Bold"/>
                <a:sym typeface="Cocomat Pro Bold"/>
              </a:rPr>
              <a:t>En la tabla productos tenemos los siguientes atributos:</a:t>
            </a:r>
          </a:p>
          <a:p>
            <a:pPr algn="just">
              <a:lnSpc>
                <a:spcPts val="4954"/>
              </a:lnSpc>
            </a:pPr>
            <a:r>
              <a:rPr lang="en-US" sz="3538" b="true">
                <a:solidFill>
                  <a:srgbClr val="000000"/>
                </a:solidFill>
                <a:latin typeface="Cocomat Pro Bold"/>
                <a:ea typeface="Cocomat Pro Bold"/>
                <a:cs typeface="Cocomat Pro Bold"/>
                <a:sym typeface="Cocomat Pro Bold"/>
              </a:rPr>
              <a:t>• id_producto INT PK NOT NULL AUTO_INCREM PK</a:t>
            </a:r>
          </a:p>
          <a:p>
            <a:pPr algn="just">
              <a:lnSpc>
                <a:spcPts val="4954"/>
              </a:lnSpc>
            </a:pPr>
            <a:r>
              <a:rPr lang="en-US" sz="3538" b="true">
                <a:solidFill>
                  <a:srgbClr val="000000"/>
                </a:solidFill>
                <a:latin typeface="Cocomat Pro Bold"/>
                <a:ea typeface="Cocomat Pro Bold"/>
                <a:cs typeface="Cocomat Pro Bold"/>
                <a:sym typeface="Cocomat Pro Bold"/>
              </a:rPr>
              <a:t>• categoría VARCHAR</a:t>
            </a:r>
          </a:p>
          <a:p>
            <a:pPr algn="just">
              <a:lnSpc>
                <a:spcPts val="4954"/>
              </a:lnSpc>
            </a:pPr>
            <a:r>
              <a:rPr lang="en-US" sz="3538" b="true">
                <a:solidFill>
                  <a:srgbClr val="000000"/>
                </a:solidFill>
                <a:latin typeface="Cocomat Pro Bold"/>
                <a:ea typeface="Cocomat Pro Bold"/>
                <a:cs typeface="Cocomat Pro Bold"/>
                <a:sym typeface="Cocomat Pro Bold"/>
              </a:rPr>
              <a:t>• precio INT</a:t>
            </a:r>
          </a:p>
          <a:p>
            <a:pPr algn="just">
              <a:lnSpc>
                <a:spcPts val="4954"/>
              </a:lnSpc>
            </a:pPr>
          </a:p>
          <a:p>
            <a:pPr algn="just">
              <a:lnSpc>
                <a:spcPts val="4954"/>
              </a:lnSpc>
              <a:spcBef>
                <a:spcPct val="0"/>
              </a:spcBef>
            </a:pPr>
            <a:r>
              <a:rPr lang="en-US" b="true" sz="3538">
                <a:solidFill>
                  <a:srgbClr val="000000"/>
                </a:solidFill>
                <a:latin typeface="Cocomat Pro Bold"/>
                <a:ea typeface="Cocomat Pro Bold"/>
                <a:cs typeface="Cocomat Pro Bold"/>
                <a:sym typeface="Cocomat Pro Bold"/>
              </a:rPr>
              <a:t>La tabla productos consta del id_producto como PK, la categoría que define el tipo de producto, es decir, si es de cafetería o pastelería y el precio de cada producto. Id_producto es la clave primaria que establece la relación las demás tablas. </a:t>
            </a:r>
          </a:p>
        </p:txBody>
      </p:sp>
      <p:sp>
        <p:nvSpPr>
          <p:cNvPr name="Freeform 5" id="5">
            <a:hlinkClick r:id="rId5" action="ppaction://hlinksldjump"/>
          </p:cNvPr>
          <p:cNvSpPr/>
          <p:nvPr/>
        </p:nvSpPr>
        <p:spPr>
          <a:xfrm flipH="false" flipV="false" rot="0">
            <a:off x="15498771" y="9069568"/>
            <a:ext cx="920566" cy="920566"/>
          </a:xfrm>
          <a:custGeom>
            <a:avLst/>
            <a:gdLst/>
            <a:ahLst/>
            <a:cxnLst/>
            <a:rect r="r" b="b" t="t" l="l"/>
            <a:pathLst>
              <a:path h="920566" w="920566">
                <a:moveTo>
                  <a:pt x="0" y="0"/>
                </a:moveTo>
                <a:lnTo>
                  <a:pt x="920566" y="0"/>
                </a:lnTo>
                <a:lnTo>
                  <a:pt x="920566" y="920565"/>
                </a:lnTo>
                <a:lnTo>
                  <a:pt x="0" y="92056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>
            <a:hlinkClick r:id="rId6" action="ppaction://hlinksldjump"/>
          </p:cNvPr>
          <p:cNvSpPr/>
          <p:nvPr/>
        </p:nvSpPr>
        <p:spPr>
          <a:xfrm flipH="true" flipV="false" rot="0">
            <a:off x="16802504" y="9069568"/>
            <a:ext cx="920566" cy="920566"/>
          </a:xfrm>
          <a:custGeom>
            <a:avLst/>
            <a:gdLst/>
            <a:ahLst/>
            <a:cxnLst/>
            <a:rect r="r" b="b" t="t" l="l"/>
            <a:pathLst>
              <a:path h="920566" w="920566">
                <a:moveTo>
                  <a:pt x="920566" y="0"/>
                </a:moveTo>
                <a:lnTo>
                  <a:pt x="0" y="0"/>
                </a:lnTo>
                <a:lnTo>
                  <a:pt x="0" y="920565"/>
                </a:lnTo>
                <a:lnTo>
                  <a:pt x="920566" y="920565"/>
                </a:lnTo>
                <a:lnTo>
                  <a:pt x="920566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E948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97651" y="1317482"/>
            <a:ext cx="4616253" cy="7902328"/>
          </a:xfrm>
          <a:custGeom>
            <a:avLst/>
            <a:gdLst/>
            <a:ahLst/>
            <a:cxnLst/>
            <a:rect r="r" b="b" t="t" l="l"/>
            <a:pathLst>
              <a:path h="7902328" w="4616253">
                <a:moveTo>
                  <a:pt x="0" y="0"/>
                </a:moveTo>
                <a:lnTo>
                  <a:pt x="4616252" y="0"/>
                </a:lnTo>
                <a:lnTo>
                  <a:pt x="4616252" y="7902328"/>
                </a:lnTo>
                <a:lnTo>
                  <a:pt x="0" y="790232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908" r="0" b="-190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725922" y="231708"/>
            <a:ext cx="2944713" cy="10857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4"/>
              </a:lnSpc>
              <a:spcBef>
                <a:spcPct val="0"/>
              </a:spcBef>
            </a:pPr>
            <a:r>
              <a:rPr lang="en-US" sz="6002" u="sng">
                <a:solidFill>
                  <a:srgbClr val="000000"/>
                </a:solidFill>
                <a:latin typeface="Scripter"/>
                <a:ea typeface="Scripter"/>
                <a:cs typeface="Scripter"/>
                <a:sym typeface="Scripter"/>
              </a:rPr>
              <a:t>vendedor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6048968" y="1926132"/>
            <a:ext cx="12239032" cy="57203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954"/>
              </a:lnSpc>
            </a:pPr>
            <a:r>
              <a:rPr lang="en-US" sz="3538" b="true">
                <a:solidFill>
                  <a:srgbClr val="000000"/>
                </a:solidFill>
                <a:latin typeface="Cocomat Pro Bold"/>
                <a:ea typeface="Cocomat Pro Bold"/>
                <a:cs typeface="Cocomat Pro Bold"/>
                <a:sym typeface="Cocomat Pro Bold"/>
              </a:rPr>
              <a:t>La tabla vendedor hace referencia al personal y cuenta con los siguientes atributos:</a:t>
            </a:r>
          </a:p>
          <a:p>
            <a:pPr algn="just">
              <a:lnSpc>
                <a:spcPts val="4954"/>
              </a:lnSpc>
            </a:pPr>
            <a:r>
              <a:rPr lang="en-US" sz="3538" b="true">
                <a:solidFill>
                  <a:srgbClr val="000000"/>
                </a:solidFill>
                <a:latin typeface="Cocomat Pro Bold"/>
                <a:ea typeface="Cocomat Pro Bold"/>
                <a:cs typeface="Cocomat Pro Bold"/>
                <a:sym typeface="Cocomat Pro Bold"/>
              </a:rPr>
              <a:t>• id_vendedor INT NOT NULL AUTO_INCREM PK</a:t>
            </a:r>
          </a:p>
          <a:p>
            <a:pPr algn="just">
              <a:lnSpc>
                <a:spcPts val="4954"/>
              </a:lnSpc>
            </a:pPr>
            <a:r>
              <a:rPr lang="en-US" sz="3538" b="true">
                <a:solidFill>
                  <a:srgbClr val="000000"/>
                </a:solidFill>
                <a:latin typeface="Cocomat Pro Bold"/>
                <a:ea typeface="Cocomat Pro Bold"/>
                <a:cs typeface="Cocomat Pro Bold"/>
                <a:sym typeface="Cocomat Pro Bold"/>
              </a:rPr>
              <a:t>• nombre_apellido VARCHAR</a:t>
            </a:r>
          </a:p>
          <a:p>
            <a:pPr algn="just">
              <a:lnSpc>
                <a:spcPts val="4954"/>
              </a:lnSpc>
            </a:pPr>
            <a:r>
              <a:rPr lang="en-US" sz="3538" b="true">
                <a:solidFill>
                  <a:srgbClr val="000000"/>
                </a:solidFill>
                <a:latin typeface="Cocomat Pro Bold"/>
                <a:ea typeface="Cocomat Pro Bold"/>
                <a:cs typeface="Cocomat Pro Bold"/>
                <a:sym typeface="Cocomat Pro Bold"/>
              </a:rPr>
              <a:t>• teléfono VARCHAR</a:t>
            </a:r>
          </a:p>
          <a:p>
            <a:pPr algn="just">
              <a:lnSpc>
                <a:spcPts val="4954"/>
              </a:lnSpc>
            </a:pPr>
          </a:p>
          <a:p>
            <a:pPr algn="just">
              <a:lnSpc>
                <a:spcPts val="4954"/>
              </a:lnSpc>
              <a:spcBef>
                <a:spcPct val="0"/>
              </a:spcBef>
            </a:pPr>
            <a:r>
              <a:rPr lang="en-US" b="true" sz="3538">
                <a:solidFill>
                  <a:srgbClr val="000000"/>
                </a:solidFill>
                <a:latin typeface="Cocomat Pro Bold"/>
                <a:ea typeface="Cocomat Pro Bold"/>
                <a:cs typeface="Cocomat Pro Bold"/>
                <a:sym typeface="Cocomat Pro Bold"/>
              </a:rPr>
              <a:t>La tabla vendedor consta de id_vendedor como PK que establece la relación con las demás tablas, nombre, apellido y teléfono de cada vendedor. </a:t>
            </a:r>
          </a:p>
        </p:txBody>
      </p:sp>
      <p:sp>
        <p:nvSpPr>
          <p:cNvPr name="Freeform 5" id="5">
            <a:hlinkClick r:id="rId5" action="ppaction://hlinksldjump"/>
          </p:cNvPr>
          <p:cNvSpPr/>
          <p:nvPr/>
        </p:nvSpPr>
        <p:spPr>
          <a:xfrm flipH="false" flipV="false" rot="0">
            <a:off x="15498771" y="9069568"/>
            <a:ext cx="920566" cy="920566"/>
          </a:xfrm>
          <a:custGeom>
            <a:avLst/>
            <a:gdLst/>
            <a:ahLst/>
            <a:cxnLst/>
            <a:rect r="r" b="b" t="t" l="l"/>
            <a:pathLst>
              <a:path h="920566" w="920566">
                <a:moveTo>
                  <a:pt x="0" y="0"/>
                </a:moveTo>
                <a:lnTo>
                  <a:pt x="920566" y="0"/>
                </a:lnTo>
                <a:lnTo>
                  <a:pt x="920566" y="920565"/>
                </a:lnTo>
                <a:lnTo>
                  <a:pt x="0" y="92056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>
            <a:hlinkClick r:id="rId6" action="ppaction://hlinksldjump"/>
          </p:cNvPr>
          <p:cNvSpPr/>
          <p:nvPr/>
        </p:nvSpPr>
        <p:spPr>
          <a:xfrm flipH="true" flipV="false" rot="0">
            <a:off x="16802504" y="9069568"/>
            <a:ext cx="920566" cy="920566"/>
          </a:xfrm>
          <a:custGeom>
            <a:avLst/>
            <a:gdLst/>
            <a:ahLst/>
            <a:cxnLst/>
            <a:rect r="r" b="b" t="t" l="l"/>
            <a:pathLst>
              <a:path h="920566" w="920566">
                <a:moveTo>
                  <a:pt x="920566" y="0"/>
                </a:moveTo>
                <a:lnTo>
                  <a:pt x="0" y="0"/>
                </a:lnTo>
                <a:lnTo>
                  <a:pt x="0" y="920565"/>
                </a:lnTo>
                <a:lnTo>
                  <a:pt x="920566" y="920565"/>
                </a:lnTo>
                <a:lnTo>
                  <a:pt x="920566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E948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99308" y="1742434"/>
            <a:ext cx="5255720" cy="7515866"/>
          </a:xfrm>
          <a:custGeom>
            <a:avLst/>
            <a:gdLst/>
            <a:ahLst/>
            <a:cxnLst/>
            <a:rect r="r" b="b" t="t" l="l"/>
            <a:pathLst>
              <a:path h="7515866" w="5255720">
                <a:moveTo>
                  <a:pt x="0" y="0"/>
                </a:moveTo>
                <a:lnTo>
                  <a:pt x="5255720" y="0"/>
                </a:lnTo>
                <a:lnTo>
                  <a:pt x="5255720" y="7515866"/>
                </a:lnTo>
                <a:lnTo>
                  <a:pt x="0" y="751586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025" t="0" r="-1025" b="-7237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8774079" y="400088"/>
            <a:ext cx="4185791" cy="10857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4"/>
              </a:lnSpc>
              <a:spcBef>
                <a:spcPct val="0"/>
              </a:spcBef>
            </a:pPr>
            <a:r>
              <a:rPr lang="en-US" sz="6002" u="sng">
                <a:solidFill>
                  <a:srgbClr val="000000"/>
                </a:solidFill>
                <a:latin typeface="Scripter"/>
                <a:ea typeface="Scripter"/>
                <a:cs typeface="Scripter"/>
                <a:sym typeface="Scripter"/>
              </a:rPr>
              <a:t>detalle_Venta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6511942" y="1736497"/>
            <a:ext cx="11447646" cy="70062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954"/>
              </a:lnSpc>
            </a:pPr>
            <a:r>
              <a:rPr lang="en-US" sz="3538" b="true">
                <a:solidFill>
                  <a:srgbClr val="000000"/>
                </a:solidFill>
                <a:latin typeface="Cocomat Pro Bold"/>
                <a:ea typeface="Cocomat Pro Bold"/>
                <a:cs typeface="Cocomat Pro Bold"/>
                <a:sym typeface="Cocomat Pro Bold"/>
              </a:rPr>
              <a:t>La tabla detalle_venta es una tabla intermedia que armé para evitar una cardinalidad de muchos a muchos en ventas y productos. </a:t>
            </a:r>
          </a:p>
          <a:p>
            <a:pPr algn="just">
              <a:lnSpc>
                <a:spcPts val="4954"/>
              </a:lnSpc>
            </a:pPr>
            <a:r>
              <a:rPr lang="en-US" sz="3538" b="true">
                <a:solidFill>
                  <a:srgbClr val="000000"/>
                </a:solidFill>
                <a:latin typeface="Cocomat Pro Bold"/>
                <a:ea typeface="Cocomat Pro Bold"/>
                <a:cs typeface="Cocomat Pro Bold"/>
                <a:sym typeface="Cocomat Pro Bold"/>
              </a:rPr>
              <a:t>Esta tabla contiene 2 claves foráneas:</a:t>
            </a:r>
          </a:p>
          <a:p>
            <a:pPr algn="just">
              <a:lnSpc>
                <a:spcPts val="4954"/>
              </a:lnSpc>
            </a:pPr>
            <a:r>
              <a:rPr lang="en-US" sz="3538" b="true">
                <a:solidFill>
                  <a:srgbClr val="000000"/>
                </a:solidFill>
                <a:latin typeface="Cocomat Pro Bold"/>
                <a:ea typeface="Cocomat Pro Bold"/>
                <a:cs typeface="Cocomat Pro Bold"/>
                <a:sym typeface="Cocomat Pro Bold"/>
              </a:rPr>
              <a:t>id_venta: INT FK</a:t>
            </a:r>
          </a:p>
          <a:p>
            <a:pPr algn="just">
              <a:lnSpc>
                <a:spcPts val="4954"/>
              </a:lnSpc>
            </a:pPr>
            <a:r>
              <a:rPr lang="en-US" sz="3538" b="true">
                <a:solidFill>
                  <a:srgbClr val="000000"/>
                </a:solidFill>
                <a:latin typeface="Cocomat Pro Bold"/>
                <a:ea typeface="Cocomat Pro Bold"/>
                <a:cs typeface="Cocomat Pro Bold"/>
                <a:sym typeface="Cocomat Pro Bold"/>
              </a:rPr>
              <a:t>Id_producto: INT FK</a:t>
            </a:r>
          </a:p>
          <a:p>
            <a:pPr algn="just">
              <a:lnSpc>
                <a:spcPts val="4954"/>
              </a:lnSpc>
            </a:pPr>
            <a:r>
              <a:rPr lang="en-US" sz="3538" b="true">
                <a:solidFill>
                  <a:srgbClr val="000000"/>
                </a:solidFill>
                <a:latin typeface="Cocomat Pro Bold"/>
                <a:ea typeface="Cocomat Pro Bold"/>
                <a:cs typeface="Cocomat Pro Bold"/>
                <a:sym typeface="Cocomat Pro Bold"/>
              </a:rPr>
              <a:t>cantidad: INT</a:t>
            </a:r>
          </a:p>
          <a:p>
            <a:pPr algn="just">
              <a:lnSpc>
                <a:spcPts val="4954"/>
              </a:lnSpc>
            </a:pPr>
            <a:r>
              <a:rPr lang="en-US" sz="3538" b="true">
                <a:solidFill>
                  <a:srgbClr val="000000"/>
                </a:solidFill>
                <a:latin typeface="Cocomat Pro Bold"/>
                <a:ea typeface="Cocomat Pro Bold"/>
                <a:cs typeface="Cocomat Pro Bold"/>
                <a:sym typeface="Cocomat Pro Bold"/>
              </a:rPr>
              <a:t>precio_unitario: INT</a:t>
            </a:r>
          </a:p>
          <a:p>
            <a:pPr algn="just">
              <a:lnSpc>
                <a:spcPts val="4954"/>
              </a:lnSpc>
              <a:spcBef>
                <a:spcPct val="0"/>
              </a:spcBef>
            </a:pPr>
            <a:r>
              <a:rPr lang="en-US" b="true" sz="3538">
                <a:solidFill>
                  <a:srgbClr val="000000"/>
                </a:solidFill>
                <a:latin typeface="Cocomat Pro Bold"/>
                <a:ea typeface="Cocomat Pro Bold"/>
                <a:cs typeface="Cocomat Pro Bold"/>
                <a:sym typeface="Cocomat Pro Bold"/>
              </a:rPr>
              <a:t>Las claves foráneas permiten la relación con las demás tablas y consta de dos atributos más que son cantidad y precio_unitario. </a:t>
            </a:r>
          </a:p>
        </p:txBody>
      </p:sp>
      <p:sp>
        <p:nvSpPr>
          <p:cNvPr name="Freeform 5" id="5">
            <a:hlinkClick r:id="rId5" action="ppaction://hlinksldjump"/>
          </p:cNvPr>
          <p:cNvSpPr/>
          <p:nvPr/>
        </p:nvSpPr>
        <p:spPr>
          <a:xfrm flipH="false" flipV="false" rot="0">
            <a:off x="15498771" y="9069568"/>
            <a:ext cx="920566" cy="920566"/>
          </a:xfrm>
          <a:custGeom>
            <a:avLst/>
            <a:gdLst/>
            <a:ahLst/>
            <a:cxnLst/>
            <a:rect r="r" b="b" t="t" l="l"/>
            <a:pathLst>
              <a:path h="920566" w="920566">
                <a:moveTo>
                  <a:pt x="0" y="0"/>
                </a:moveTo>
                <a:lnTo>
                  <a:pt x="920566" y="0"/>
                </a:lnTo>
                <a:lnTo>
                  <a:pt x="920566" y="920565"/>
                </a:lnTo>
                <a:lnTo>
                  <a:pt x="0" y="92056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>
            <a:hlinkClick r:id="rId6" action="ppaction://hlinksldjump"/>
          </p:cNvPr>
          <p:cNvSpPr/>
          <p:nvPr/>
        </p:nvSpPr>
        <p:spPr>
          <a:xfrm flipH="true" flipV="false" rot="0">
            <a:off x="16802504" y="9069568"/>
            <a:ext cx="920566" cy="920566"/>
          </a:xfrm>
          <a:custGeom>
            <a:avLst/>
            <a:gdLst/>
            <a:ahLst/>
            <a:cxnLst/>
            <a:rect r="r" b="b" t="t" l="l"/>
            <a:pathLst>
              <a:path h="920566" w="920566">
                <a:moveTo>
                  <a:pt x="920566" y="0"/>
                </a:moveTo>
                <a:lnTo>
                  <a:pt x="0" y="0"/>
                </a:lnTo>
                <a:lnTo>
                  <a:pt x="0" y="920565"/>
                </a:lnTo>
                <a:lnTo>
                  <a:pt x="920566" y="920565"/>
                </a:lnTo>
                <a:lnTo>
                  <a:pt x="920566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E948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865899" y="1611807"/>
            <a:ext cx="12173623" cy="69871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954"/>
              </a:lnSpc>
            </a:pPr>
            <a:r>
              <a:rPr lang="en-US" sz="3538" b="true">
                <a:solidFill>
                  <a:srgbClr val="000000"/>
                </a:solidFill>
                <a:latin typeface="Cocomat Pro Bold"/>
                <a:ea typeface="Cocomat Pro Bold"/>
                <a:cs typeface="Cocomat Pro Bold"/>
                <a:sym typeface="Cocomat Pro Bold"/>
              </a:rPr>
              <a:t>Se realiza la creación de esta tabla con la finalidad de poder agregar un trigger que me permita dar un mensaje de aviso cada vez que se inserte una nueva venta. </a:t>
            </a:r>
          </a:p>
          <a:p>
            <a:pPr algn="just">
              <a:lnSpc>
                <a:spcPts val="4954"/>
              </a:lnSpc>
            </a:pPr>
            <a:r>
              <a:rPr lang="en-US" sz="3538" b="true">
                <a:solidFill>
                  <a:srgbClr val="000000"/>
                </a:solidFill>
                <a:latin typeface="Cocomat Pro Bold"/>
                <a:ea typeface="Cocomat Pro Bold"/>
                <a:cs typeface="Cocomat Pro Bold"/>
                <a:sym typeface="Cocomat Pro Bold"/>
              </a:rPr>
              <a:t>Contiene los siguientes elementos:</a:t>
            </a:r>
          </a:p>
          <a:p>
            <a:pPr algn="just">
              <a:lnSpc>
                <a:spcPts val="4954"/>
              </a:lnSpc>
            </a:pPr>
            <a:r>
              <a:rPr lang="en-US" sz="3538" b="true">
                <a:solidFill>
                  <a:srgbClr val="000000"/>
                </a:solidFill>
                <a:latin typeface="Cocomat Pro Bold"/>
                <a:ea typeface="Cocomat Pro Bold"/>
                <a:cs typeface="Cocomat Pro Bold"/>
                <a:sym typeface="Cocomat Pro Bold"/>
              </a:rPr>
              <a:t>id_ventas_nuevas: INT NOT NULL AUTOINCREMENT PRIMARY KEY</a:t>
            </a:r>
          </a:p>
          <a:p>
            <a:pPr algn="just">
              <a:lnSpc>
                <a:spcPts val="4954"/>
              </a:lnSpc>
            </a:pPr>
            <a:r>
              <a:rPr lang="en-US" sz="3538" b="true">
                <a:solidFill>
                  <a:srgbClr val="000000"/>
                </a:solidFill>
                <a:latin typeface="Cocomat Pro Bold"/>
                <a:ea typeface="Cocomat Pro Bold"/>
                <a:cs typeface="Cocomat Pro Bold"/>
                <a:sym typeface="Cocomat Pro Bold"/>
              </a:rPr>
              <a:t>mensaje: VARCHAR (255)</a:t>
            </a:r>
          </a:p>
          <a:p>
            <a:pPr algn="just">
              <a:lnSpc>
                <a:spcPts val="4954"/>
              </a:lnSpc>
            </a:pPr>
            <a:r>
              <a:rPr lang="en-US" sz="3538" b="true">
                <a:solidFill>
                  <a:srgbClr val="000000"/>
                </a:solidFill>
                <a:latin typeface="Cocomat Pro Bold"/>
                <a:ea typeface="Cocomat Pro Bold"/>
                <a:cs typeface="Cocomat Pro Bold"/>
                <a:sym typeface="Cocomat Pro Bold"/>
              </a:rPr>
              <a:t>fecha: TIMESTAMP DEFALT CURRENT_TIMESTAMP</a:t>
            </a:r>
          </a:p>
          <a:p>
            <a:pPr algn="just">
              <a:lnSpc>
                <a:spcPts val="4954"/>
              </a:lnSpc>
            </a:pPr>
          </a:p>
          <a:p>
            <a:pPr algn="just">
              <a:lnSpc>
                <a:spcPts val="4954"/>
              </a:lnSpc>
              <a:spcBef>
                <a:spcPct val="0"/>
              </a:spcBef>
            </a:pPr>
          </a:p>
        </p:txBody>
      </p:sp>
      <p:sp>
        <p:nvSpPr>
          <p:cNvPr name="Freeform 3" id="3">
            <a:hlinkClick r:id="rId4" action="ppaction://hlinksldjump"/>
          </p:cNvPr>
          <p:cNvSpPr/>
          <p:nvPr/>
        </p:nvSpPr>
        <p:spPr>
          <a:xfrm flipH="false" flipV="false" rot="0">
            <a:off x="15498771" y="9069568"/>
            <a:ext cx="920566" cy="920566"/>
          </a:xfrm>
          <a:custGeom>
            <a:avLst/>
            <a:gdLst/>
            <a:ahLst/>
            <a:cxnLst/>
            <a:rect r="r" b="b" t="t" l="l"/>
            <a:pathLst>
              <a:path h="920566" w="920566">
                <a:moveTo>
                  <a:pt x="0" y="0"/>
                </a:moveTo>
                <a:lnTo>
                  <a:pt x="920566" y="0"/>
                </a:lnTo>
                <a:lnTo>
                  <a:pt x="920566" y="920565"/>
                </a:lnTo>
                <a:lnTo>
                  <a:pt x="0" y="92056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>
            <a:hlinkClick r:id="rId5" action="ppaction://hlinksldjump"/>
          </p:cNvPr>
          <p:cNvSpPr/>
          <p:nvPr/>
        </p:nvSpPr>
        <p:spPr>
          <a:xfrm flipH="true" flipV="false" rot="0">
            <a:off x="16802504" y="9069568"/>
            <a:ext cx="920566" cy="920566"/>
          </a:xfrm>
          <a:custGeom>
            <a:avLst/>
            <a:gdLst/>
            <a:ahLst/>
            <a:cxnLst/>
            <a:rect r="r" b="b" t="t" l="l"/>
            <a:pathLst>
              <a:path h="920566" w="920566">
                <a:moveTo>
                  <a:pt x="920566" y="0"/>
                </a:moveTo>
                <a:lnTo>
                  <a:pt x="0" y="0"/>
                </a:lnTo>
                <a:lnTo>
                  <a:pt x="0" y="920565"/>
                </a:lnTo>
                <a:lnTo>
                  <a:pt x="920566" y="920565"/>
                </a:lnTo>
                <a:lnTo>
                  <a:pt x="920566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427927" y="1485862"/>
            <a:ext cx="5181625" cy="7772438"/>
          </a:xfrm>
          <a:custGeom>
            <a:avLst/>
            <a:gdLst/>
            <a:ahLst/>
            <a:cxnLst/>
            <a:rect r="r" b="b" t="t" l="l"/>
            <a:pathLst>
              <a:path h="7772438" w="5181625">
                <a:moveTo>
                  <a:pt x="0" y="0"/>
                </a:moveTo>
                <a:lnTo>
                  <a:pt x="5181625" y="0"/>
                </a:lnTo>
                <a:lnTo>
                  <a:pt x="5181625" y="7772438"/>
                </a:lnTo>
                <a:lnTo>
                  <a:pt x="0" y="777243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8367425" y="400088"/>
            <a:ext cx="6622107" cy="10857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4"/>
              </a:lnSpc>
              <a:spcBef>
                <a:spcPct val="0"/>
              </a:spcBef>
            </a:pPr>
            <a:r>
              <a:rPr lang="en-US" sz="6002" u="sng">
                <a:solidFill>
                  <a:srgbClr val="000000"/>
                </a:solidFill>
                <a:latin typeface="Scripter"/>
                <a:ea typeface="Scripter"/>
                <a:cs typeface="Scripter"/>
                <a:sym typeface="Scripter"/>
              </a:rPr>
              <a:t>Ventas_nuevas_insert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E948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48579" y="1291136"/>
            <a:ext cx="14269313" cy="8561588"/>
          </a:xfrm>
          <a:custGeom>
            <a:avLst/>
            <a:gdLst/>
            <a:ahLst/>
            <a:cxnLst/>
            <a:rect r="r" b="b" t="t" l="l"/>
            <a:pathLst>
              <a:path h="8561588" w="14269313">
                <a:moveTo>
                  <a:pt x="0" y="0"/>
                </a:moveTo>
                <a:lnTo>
                  <a:pt x="14269314" y="0"/>
                </a:lnTo>
                <a:lnTo>
                  <a:pt x="14269314" y="8561588"/>
                </a:lnTo>
                <a:lnTo>
                  <a:pt x="0" y="856158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006496" y="160097"/>
            <a:ext cx="9707314" cy="8686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24"/>
              </a:lnSpc>
              <a:spcBef>
                <a:spcPct val="0"/>
              </a:spcBef>
            </a:pPr>
            <a:r>
              <a:rPr lang="en-US" sz="4803" u="sng">
                <a:solidFill>
                  <a:srgbClr val="000000"/>
                </a:solidFill>
                <a:latin typeface="Scripter"/>
                <a:ea typeface="Scripter"/>
                <a:cs typeface="Scripter"/>
                <a:sym typeface="Scripter"/>
              </a:rPr>
              <a:t>diagrama entidad-relación por mysql</a:t>
            </a:r>
          </a:p>
        </p:txBody>
      </p:sp>
      <p:sp>
        <p:nvSpPr>
          <p:cNvPr name="Freeform 4" id="4">
            <a:hlinkClick r:id="rId5" action="ppaction://hlinksldjump"/>
          </p:cNvPr>
          <p:cNvSpPr/>
          <p:nvPr/>
        </p:nvSpPr>
        <p:spPr>
          <a:xfrm flipH="false" flipV="false" rot="0">
            <a:off x="15498771" y="9069568"/>
            <a:ext cx="920566" cy="920566"/>
          </a:xfrm>
          <a:custGeom>
            <a:avLst/>
            <a:gdLst/>
            <a:ahLst/>
            <a:cxnLst/>
            <a:rect r="r" b="b" t="t" l="l"/>
            <a:pathLst>
              <a:path h="920566" w="920566">
                <a:moveTo>
                  <a:pt x="0" y="0"/>
                </a:moveTo>
                <a:lnTo>
                  <a:pt x="920566" y="0"/>
                </a:lnTo>
                <a:lnTo>
                  <a:pt x="920566" y="920565"/>
                </a:lnTo>
                <a:lnTo>
                  <a:pt x="0" y="92056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>
            <a:hlinkClick r:id="rId6" action="ppaction://hlinksldjump"/>
          </p:cNvPr>
          <p:cNvSpPr/>
          <p:nvPr/>
        </p:nvSpPr>
        <p:spPr>
          <a:xfrm flipH="true" flipV="false" rot="0">
            <a:off x="16802504" y="9069568"/>
            <a:ext cx="920566" cy="920566"/>
          </a:xfrm>
          <a:custGeom>
            <a:avLst/>
            <a:gdLst/>
            <a:ahLst/>
            <a:cxnLst/>
            <a:rect r="r" b="b" t="t" l="l"/>
            <a:pathLst>
              <a:path h="920566" w="920566">
                <a:moveTo>
                  <a:pt x="920566" y="0"/>
                </a:moveTo>
                <a:lnTo>
                  <a:pt x="0" y="0"/>
                </a:lnTo>
                <a:lnTo>
                  <a:pt x="0" y="920565"/>
                </a:lnTo>
                <a:lnTo>
                  <a:pt x="920566" y="920565"/>
                </a:lnTo>
                <a:lnTo>
                  <a:pt x="920566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E948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96230" y="1789358"/>
            <a:ext cx="5601706" cy="7468942"/>
          </a:xfrm>
          <a:custGeom>
            <a:avLst/>
            <a:gdLst/>
            <a:ahLst/>
            <a:cxnLst/>
            <a:rect r="r" b="b" t="t" l="l"/>
            <a:pathLst>
              <a:path h="7468942" w="5601706">
                <a:moveTo>
                  <a:pt x="0" y="0"/>
                </a:moveTo>
                <a:lnTo>
                  <a:pt x="5601706" y="0"/>
                </a:lnTo>
                <a:lnTo>
                  <a:pt x="5601706" y="7468942"/>
                </a:lnTo>
                <a:lnTo>
                  <a:pt x="0" y="746894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8043780" y="400088"/>
            <a:ext cx="5646390" cy="10857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4"/>
              </a:lnSpc>
              <a:spcBef>
                <a:spcPct val="0"/>
              </a:spcBef>
            </a:pPr>
            <a:r>
              <a:rPr lang="en-US" sz="6002" u="sng">
                <a:solidFill>
                  <a:srgbClr val="000000"/>
                </a:solidFill>
                <a:latin typeface="Scripter"/>
                <a:ea typeface="Scripter"/>
                <a:cs typeface="Scripter"/>
                <a:sym typeface="Scripter"/>
              </a:rPr>
              <a:t>CREACIÓN DE VISTAS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6713926" y="1926132"/>
            <a:ext cx="11574074" cy="61515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814"/>
              </a:lnSpc>
            </a:pPr>
            <a:r>
              <a:rPr lang="en-US" sz="3438" b="true">
                <a:solidFill>
                  <a:srgbClr val="000000"/>
                </a:solidFill>
                <a:latin typeface="Cocomat Pro Bold"/>
                <a:ea typeface="Cocomat Pro Bold"/>
                <a:cs typeface="Cocomat Pro Bold"/>
                <a:sym typeface="Cocomat Pro Bold"/>
              </a:rPr>
              <a:t>Se crearon 3 vistas:</a:t>
            </a:r>
          </a:p>
          <a:p>
            <a:pPr algn="just">
              <a:lnSpc>
                <a:spcPts val="4814"/>
              </a:lnSpc>
            </a:pPr>
          </a:p>
          <a:p>
            <a:pPr algn="just">
              <a:lnSpc>
                <a:spcPts val="4814"/>
              </a:lnSpc>
            </a:pPr>
            <a:r>
              <a:rPr lang="en-US" b="true" sz="3438" u="sng">
                <a:solidFill>
                  <a:srgbClr val="000000"/>
                </a:solidFill>
                <a:latin typeface="Cocomat Pro Bold"/>
                <a:ea typeface="Cocomat Pro Bold"/>
                <a:cs typeface="Cocomat Pro Bold"/>
                <a:sym typeface="Cocomat Pro Bold"/>
              </a:rPr>
              <a:t>Vista 1:</a:t>
            </a:r>
            <a:r>
              <a:rPr lang="en-US" sz="3438" b="true">
                <a:solidFill>
                  <a:srgbClr val="000000"/>
                </a:solidFill>
                <a:latin typeface="Cocomat Pro Bold"/>
                <a:ea typeface="Cocomat Pro Bold"/>
                <a:cs typeface="Cocomat Pro Bold"/>
                <a:sym typeface="Cocomat Pro Bold"/>
              </a:rPr>
              <a:t> se creó con el fin de enviar reporte al contador del total de ventas. </a:t>
            </a:r>
          </a:p>
          <a:p>
            <a:pPr algn="just">
              <a:lnSpc>
                <a:spcPts val="4814"/>
              </a:lnSpc>
            </a:pPr>
          </a:p>
          <a:p>
            <a:pPr algn="just">
              <a:lnSpc>
                <a:spcPts val="4814"/>
              </a:lnSpc>
            </a:pPr>
            <a:r>
              <a:rPr lang="en-US" b="true" sz="3438" u="sng">
                <a:solidFill>
                  <a:srgbClr val="000000"/>
                </a:solidFill>
                <a:latin typeface="Cocomat Pro Bold"/>
                <a:ea typeface="Cocomat Pro Bold"/>
                <a:cs typeface="Cocomat Pro Bold"/>
                <a:sym typeface="Cocomat Pro Bold"/>
              </a:rPr>
              <a:t>Vista 2:</a:t>
            </a:r>
            <a:r>
              <a:rPr lang="en-US" sz="3438" b="true">
                <a:solidFill>
                  <a:srgbClr val="000000"/>
                </a:solidFill>
                <a:latin typeface="Cocomat Pro Bold"/>
                <a:ea typeface="Cocomat Pro Bold"/>
                <a:cs typeface="Cocomat Pro Bold"/>
                <a:sym typeface="Cocomat Pro Bold"/>
              </a:rPr>
              <a:t> se creó con el fin de enviar a marketing un listado de clientes habituales. </a:t>
            </a:r>
          </a:p>
          <a:p>
            <a:pPr algn="just">
              <a:lnSpc>
                <a:spcPts val="4814"/>
              </a:lnSpc>
            </a:pPr>
          </a:p>
          <a:p>
            <a:pPr algn="just">
              <a:lnSpc>
                <a:spcPts val="4814"/>
              </a:lnSpc>
              <a:spcBef>
                <a:spcPct val="0"/>
              </a:spcBef>
            </a:pPr>
            <a:r>
              <a:rPr lang="en-US" b="true" sz="3438" u="sng">
                <a:solidFill>
                  <a:srgbClr val="000000"/>
                </a:solidFill>
                <a:latin typeface="Cocomat Pro Bold"/>
                <a:ea typeface="Cocomat Pro Bold"/>
                <a:cs typeface="Cocomat Pro Bold"/>
                <a:sym typeface="Cocomat Pro Bold"/>
              </a:rPr>
              <a:t>Vista 3:</a:t>
            </a:r>
            <a:r>
              <a:rPr lang="en-US" b="true" sz="3438">
                <a:solidFill>
                  <a:srgbClr val="000000"/>
                </a:solidFill>
                <a:latin typeface="Cocomat Pro Bold"/>
                <a:ea typeface="Cocomat Pro Bold"/>
                <a:cs typeface="Cocomat Pro Bold"/>
                <a:sym typeface="Cocomat Pro Bold"/>
              </a:rPr>
              <a:t> se creó con el fin de enviar a recursos humanos un reporte del total vendido por vendedor. </a:t>
            </a:r>
          </a:p>
        </p:txBody>
      </p:sp>
      <p:sp>
        <p:nvSpPr>
          <p:cNvPr name="Freeform 5" id="5">
            <a:hlinkClick r:id="rId5" action="ppaction://hlinksldjump"/>
          </p:cNvPr>
          <p:cNvSpPr/>
          <p:nvPr/>
        </p:nvSpPr>
        <p:spPr>
          <a:xfrm flipH="false" flipV="false" rot="0">
            <a:off x="15498771" y="9069568"/>
            <a:ext cx="920566" cy="920566"/>
          </a:xfrm>
          <a:custGeom>
            <a:avLst/>
            <a:gdLst/>
            <a:ahLst/>
            <a:cxnLst/>
            <a:rect r="r" b="b" t="t" l="l"/>
            <a:pathLst>
              <a:path h="920566" w="920566">
                <a:moveTo>
                  <a:pt x="0" y="0"/>
                </a:moveTo>
                <a:lnTo>
                  <a:pt x="920566" y="0"/>
                </a:lnTo>
                <a:lnTo>
                  <a:pt x="920566" y="920565"/>
                </a:lnTo>
                <a:lnTo>
                  <a:pt x="0" y="92056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>
            <a:hlinkClick r:id="rId6" action="ppaction://hlinksldjump"/>
          </p:cNvPr>
          <p:cNvSpPr/>
          <p:nvPr/>
        </p:nvSpPr>
        <p:spPr>
          <a:xfrm flipH="true" flipV="false" rot="0">
            <a:off x="16802504" y="9069568"/>
            <a:ext cx="920566" cy="920566"/>
          </a:xfrm>
          <a:custGeom>
            <a:avLst/>
            <a:gdLst/>
            <a:ahLst/>
            <a:cxnLst/>
            <a:rect r="r" b="b" t="t" l="l"/>
            <a:pathLst>
              <a:path h="920566" w="920566">
                <a:moveTo>
                  <a:pt x="920566" y="0"/>
                </a:moveTo>
                <a:lnTo>
                  <a:pt x="0" y="0"/>
                </a:lnTo>
                <a:lnTo>
                  <a:pt x="0" y="920565"/>
                </a:lnTo>
                <a:lnTo>
                  <a:pt x="920566" y="920565"/>
                </a:lnTo>
                <a:lnTo>
                  <a:pt x="920566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E948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79613" y="697347"/>
            <a:ext cx="5930894" cy="8892306"/>
          </a:xfrm>
          <a:custGeom>
            <a:avLst/>
            <a:gdLst/>
            <a:ahLst/>
            <a:cxnLst/>
            <a:rect r="r" b="b" t="t" l="l"/>
            <a:pathLst>
              <a:path h="8892306" w="5930894">
                <a:moveTo>
                  <a:pt x="0" y="0"/>
                </a:moveTo>
                <a:lnTo>
                  <a:pt x="5930894" y="0"/>
                </a:lnTo>
                <a:lnTo>
                  <a:pt x="5930894" y="8892306"/>
                </a:lnTo>
                <a:lnTo>
                  <a:pt x="0" y="889230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687821" y="400088"/>
            <a:ext cx="2942481" cy="10857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4"/>
              </a:lnSpc>
              <a:spcBef>
                <a:spcPct val="0"/>
              </a:spcBef>
            </a:pPr>
            <a:r>
              <a:rPr lang="en-US" sz="6002" u="sng">
                <a:solidFill>
                  <a:srgbClr val="000000"/>
                </a:solidFill>
                <a:latin typeface="Scripter"/>
                <a:ea typeface="Scripter"/>
                <a:cs typeface="Scripter"/>
                <a:sym typeface="Scripter"/>
              </a:rPr>
              <a:t>FUNCTIONS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7057160" y="1836266"/>
            <a:ext cx="11056906" cy="4828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729"/>
              </a:lnSpc>
            </a:pPr>
            <a:r>
              <a:rPr lang="en-US" sz="3378" b="true">
                <a:solidFill>
                  <a:srgbClr val="000000"/>
                </a:solidFill>
                <a:latin typeface="Cocomat Pro Bold"/>
                <a:ea typeface="Cocomat Pro Bold"/>
                <a:cs typeface="Cocomat Pro Bold"/>
                <a:sym typeface="Cocomat Pro Bold"/>
              </a:rPr>
              <a:t>Se crearon 2 funciones:</a:t>
            </a:r>
          </a:p>
          <a:p>
            <a:pPr algn="just">
              <a:lnSpc>
                <a:spcPts val="4729"/>
              </a:lnSpc>
            </a:pPr>
          </a:p>
          <a:p>
            <a:pPr algn="just">
              <a:lnSpc>
                <a:spcPts val="4729"/>
              </a:lnSpc>
            </a:pPr>
            <a:r>
              <a:rPr lang="en-US" b="true" sz="3378" u="sng">
                <a:solidFill>
                  <a:srgbClr val="000000"/>
                </a:solidFill>
                <a:latin typeface="Cocomat Pro Bold"/>
                <a:ea typeface="Cocomat Pro Bold"/>
                <a:cs typeface="Cocomat Pro Bold"/>
                <a:sym typeface="Cocomat Pro Bold"/>
              </a:rPr>
              <a:t>Function 1:</a:t>
            </a:r>
            <a:r>
              <a:rPr lang="en-US" sz="3378" b="true">
                <a:solidFill>
                  <a:srgbClr val="000000"/>
                </a:solidFill>
                <a:latin typeface="Cocomat Pro Bold"/>
                <a:ea typeface="Cocomat Pro Bold"/>
                <a:cs typeface="Cocomat Pro Bold"/>
                <a:sym typeface="Cocomat Pro Bold"/>
              </a:rPr>
              <a:t>  se creó con el fin de aumentar el precio de todos los registros al 21%. </a:t>
            </a:r>
          </a:p>
          <a:p>
            <a:pPr algn="just">
              <a:lnSpc>
                <a:spcPts val="4729"/>
              </a:lnSpc>
            </a:pPr>
          </a:p>
          <a:p>
            <a:pPr algn="just">
              <a:lnSpc>
                <a:spcPts val="4729"/>
              </a:lnSpc>
              <a:spcBef>
                <a:spcPct val="0"/>
              </a:spcBef>
            </a:pPr>
            <a:r>
              <a:rPr lang="en-US" b="true" sz="3378" u="sng">
                <a:solidFill>
                  <a:srgbClr val="000000"/>
                </a:solidFill>
                <a:latin typeface="Cocomat Pro Bold"/>
                <a:ea typeface="Cocomat Pro Bold"/>
                <a:cs typeface="Cocomat Pro Bold"/>
                <a:sym typeface="Cocomat Pro Bold"/>
              </a:rPr>
              <a:t>Fuction 2:</a:t>
            </a:r>
            <a:r>
              <a:rPr lang="en-US" b="true" sz="3378">
                <a:solidFill>
                  <a:srgbClr val="000000"/>
                </a:solidFill>
                <a:latin typeface="Cocomat Pro Bold"/>
                <a:ea typeface="Cocomat Pro Bold"/>
                <a:cs typeface="Cocomat Pro Bold"/>
                <a:sym typeface="Cocomat Pro Bold"/>
              </a:rPr>
              <a:t> se creó con el fin de verificar cuántos clientes hoy aún prefieren utilizar efectivo como medio de pago. </a:t>
            </a:r>
          </a:p>
        </p:txBody>
      </p:sp>
      <p:sp>
        <p:nvSpPr>
          <p:cNvPr name="Freeform 5" id="5">
            <a:hlinkClick r:id="rId5" action="ppaction://hlinksldjump"/>
          </p:cNvPr>
          <p:cNvSpPr/>
          <p:nvPr/>
        </p:nvSpPr>
        <p:spPr>
          <a:xfrm flipH="false" flipV="false" rot="0">
            <a:off x="15498771" y="9069568"/>
            <a:ext cx="920566" cy="920566"/>
          </a:xfrm>
          <a:custGeom>
            <a:avLst/>
            <a:gdLst/>
            <a:ahLst/>
            <a:cxnLst/>
            <a:rect r="r" b="b" t="t" l="l"/>
            <a:pathLst>
              <a:path h="920566" w="920566">
                <a:moveTo>
                  <a:pt x="0" y="0"/>
                </a:moveTo>
                <a:lnTo>
                  <a:pt x="920566" y="0"/>
                </a:lnTo>
                <a:lnTo>
                  <a:pt x="920566" y="920565"/>
                </a:lnTo>
                <a:lnTo>
                  <a:pt x="0" y="92056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>
            <a:hlinkClick r:id="rId6" action="ppaction://hlinksldjump"/>
          </p:cNvPr>
          <p:cNvSpPr/>
          <p:nvPr/>
        </p:nvSpPr>
        <p:spPr>
          <a:xfrm flipH="true" flipV="false" rot="0">
            <a:off x="16802504" y="9069568"/>
            <a:ext cx="920566" cy="920566"/>
          </a:xfrm>
          <a:custGeom>
            <a:avLst/>
            <a:gdLst/>
            <a:ahLst/>
            <a:cxnLst/>
            <a:rect r="r" b="b" t="t" l="l"/>
            <a:pathLst>
              <a:path h="920566" w="920566">
                <a:moveTo>
                  <a:pt x="920566" y="0"/>
                </a:moveTo>
                <a:lnTo>
                  <a:pt x="0" y="0"/>
                </a:lnTo>
                <a:lnTo>
                  <a:pt x="0" y="920565"/>
                </a:lnTo>
                <a:lnTo>
                  <a:pt x="920566" y="920565"/>
                </a:lnTo>
                <a:lnTo>
                  <a:pt x="920566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E948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91614" y="1028700"/>
            <a:ext cx="4896646" cy="8702191"/>
          </a:xfrm>
          <a:custGeom>
            <a:avLst/>
            <a:gdLst/>
            <a:ahLst/>
            <a:cxnLst/>
            <a:rect r="r" b="b" t="t" l="l"/>
            <a:pathLst>
              <a:path h="8702191" w="4896646">
                <a:moveTo>
                  <a:pt x="0" y="0"/>
                </a:moveTo>
                <a:lnTo>
                  <a:pt x="4896646" y="0"/>
                </a:lnTo>
                <a:lnTo>
                  <a:pt x="4896646" y="8702191"/>
                </a:lnTo>
                <a:lnTo>
                  <a:pt x="0" y="870219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144000" y="400088"/>
            <a:ext cx="5624215" cy="10857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4"/>
              </a:lnSpc>
              <a:spcBef>
                <a:spcPct val="0"/>
              </a:spcBef>
            </a:pPr>
            <a:r>
              <a:rPr lang="en-US" sz="6002" u="sng">
                <a:solidFill>
                  <a:srgbClr val="000000"/>
                </a:solidFill>
                <a:latin typeface="Scripter"/>
                <a:ea typeface="Scripter"/>
                <a:cs typeface="Scripter"/>
                <a:sym typeface="Scripter"/>
              </a:rPr>
              <a:t>stored procedures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6204024" y="2134440"/>
            <a:ext cx="11860345" cy="4181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729"/>
              </a:lnSpc>
            </a:pPr>
            <a:r>
              <a:rPr lang="en-US" sz="3378" b="true">
                <a:solidFill>
                  <a:srgbClr val="000000"/>
                </a:solidFill>
                <a:latin typeface="Cocomat Pro Bold"/>
                <a:ea typeface="Cocomat Pro Bold"/>
                <a:cs typeface="Cocomat Pro Bold"/>
                <a:sym typeface="Cocomat Pro Bold"/>
              </a:rPr>
              <a:t>Se crearon 2 procedimientos:</a:t>
            </a:r>
          </a:p>
          <a:p>
            <a:pPr algn="just">
              <a:lnSpc>
                <a:spcPts val="4729"/>
              </a:lnSpc>
            </a:pPr>
          </a:p>
          <a:p>
            <a:pPr algn="just">
              <a:lnSpc>
                <a:spcPts val="4729"/>
              </a:lnSpc>
            </a:pPr>
            <a:r>
              <a:rPr lang="en-US" b="true" sz="3378" u="sng">
                <a:solidFill>
                  <a:srgbClr val="000000"/>
                </a:solidFill>
                <a:latin typeface="Cocomat Pro Bold"/>
                <a:ea typeface="Cocomat Pro Bold"/>
                <a:cs typeface="Cocomat Pro Bold"/>
                <a:sym typeface="Cocomat Pro Bold"/>
              </a:rPr>
              <a:t>Procedure 1:</a:t>
            </a:r>
            <a:r>
              <a:rPr lang="en-US" sz="3378" b="true">
                <a:solidFill>
                  <a:srgbClr val="000000"/>
                </a:solidFill>
                <a:latin typeface="Cocomat Pro Bold"/>
                <a:ea typeface="Cocomat Pro Bold"/>
                <a:cs typeface="Cocomat Pro Bold"/>
                <a:sym typeface="Cocomat Pro Bold"/>
              </a:rPr>
              <a:t>  se creó con el fin de ver el total de ventas por medio de pago.  </a:t>
            </a:r>
          </a:p>
          <a:p>
            <a:pPr algn="just">
              <a:lnSpc>
                <a:spcPts val="4729"/>
              </a:lnSpc>
            </a:pPr>
          </a:p>
          <a:p>
            <a:pPr algn="just">
              <a:lnSpc>
                <a:spcPts val="4729"/>
              </a:lnSpc>
              <a:spcBef>
                <a:spcPct val="0"/>
              </a:spcBef>
            </a:pPr>
            <a:r>
              <a:rPr lang="en-US" b="true" sz="3378" u="sng">
                <a:solidFill>
                  <a:srgbClr val="000000"/>
                </a:solidFill>
                <a:latin typeface="Cocomat Pro Bold"/>
                <a:ea typeface="Cocomat Pro Bold"/>
                <a:cs typeface="Cocomat Pro Bold"/>
                <a:sym typeface="Cocomat Pro Bold"/>
              </a:rPr>
              <a:t>Procedure 2:</a:t>
            </a:r>
            <a:r>
              <a:rPr lang="en-US" b="true" sz="3378">
                <a:solidFill>
                  <a:srgbClr val="000000"/>
                </a:solidFill>
                <a:latin typeface="Cocomat Pro Bold"/>
                <a:ea typeface="Cocomat Pro Bold"/>
                <a:cs typeface="Cocomat Pro Bold"/>
                <a:sym typeface="Cocomat Pro Bold"/>
              </a:rPr>
              <a:t> se creó con el fin de ver el total de ventas por vendedor al 14/03.</a:t>
            </a:r>
          </a:p>
        </p:txBody>
      </p:sp>
      <p:sp>
        <p:nvSpPr>
          <p:cNvPr name="Freeform 5" id="5">
            <a:hlinkClick r:id="rId5" action="ppaction://hlinksldjump"/>
          </p:cNvPr>
          <p:cNvSpPr/>
          <p:nvPr/>
        </p:nvSpPr>
        <p:spPr>
          <a:xfrm flipH="false" flipV="false" rot="0">
            <a:off x="15498771" y="9069568"/>
            <a:ext cx="920566" cy="920566"/>
          </a:xfrm>
          <a:custGeom>
            <a:avLst/>
            <a:gdLst/>
            <a:ahLst/>
            <a:cxnLst/>
            <a:rect r="r" b="b" t="t" l="l"/>
            <a:pathLst>
              <a:path h="920566" w="920566">
                <a:moveTo>
                  <a:pt x="0" y="0"/>
                </a:moveTo>
                <a:lnTo>
                  <a:pt x="920566" y="0"/>
                </a:lnTo>
                <a:lnTo>
                  <a:pt x="920566" y="920565"/>
                </a:lnTo>
                <a:lnTo>
                  <a:pt x="0" y="92056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>
            <a:hlinkClick r:id="rId6" action="ppaction://hlinksldjump"/>
          </p:cNvPr>
          <p:cNvSpPr/>
          <p:nvPr/>
        </p:nvSpPr>
        <p:spPr>
          <a:xfrm flipH="true" flipV="false" rot="0">
            <a:off x="16802504" y="9069568"/>
            <a:ext cx="920566" cy="920566"/>
          </a:xfrm>
          <a:custGeom>
            <a:avLst/>
            <a:gdLst/>
            <a:ahLst/>
            <a:cxnLst/>
            <a:rect r="r" b="b" t="t" l="l"/>
            <a:pathLst>
              <a:path h="920566" w="920566">
                <a:moveTo>
                  <a:pt x="920566" y="0"/>
                </a:moveTo>
                <a:lnTo>
                  <a:pt x="0" y="0"/>
                </a:lnTo>
                <a:lnTo>
                  <a:pt x="0" y="920565"/>
                </a:lnTo>
                <a:lnTo>
                  <a:pt x="920566" y="920565"/>
                </a:lnTo>
                <a:lnTo>
                  <a:pt x="920566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E948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32961" y="1028700"/>
            <a:ext cx="5285463" cy="8504161"/>
          </a:xfrm>
          <a:custGeom>
            <a:avLst/>
            <a:gdLst/>
            <a:ahLst/>
            <a:cxnLst/>
            <a:rect r="r" b="b" t="t" l="l"/>
            <a:pathLst>
              <a:path h="8504161" w="5285463">
                <a:moveTo>
                  <a:pt x="0" y="0"/>
                </a:moveTo>
                <a:lnTo>
                  <a:pt x="5285463" y="0"/>
                </a:lnTo>
                <a:lnTo>
                  <a:pt x="5285463" y="8504161"/>
                </a:lnTo>
                <a:lnTo>
                  <a:pt x="0" y="850416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5476" r="0" b="-5476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689506" y="400088"/>
            <a:ext cx="2533204" cy="10857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4"/>
              </a:lnSpc>
              <a:spcBef>
                <a:spcPct val="0"/>
              </a:spcBef>
            </a:pPr>
            <a:r>
              <a:rPr lang="en-US" sz="6002" u="sng">
                <a:solidFill>
                  <a:srgbClr val="000000"/>
                </a:solidFill>
                <a:latin typeface="Scripter"/>
                <a:ea typeface="Scripter"/>
                <a:cs typeface="Scripter"/>
                <a:sym typeface="Scripter"/>
              </a:rPr>
              <a:t>triggers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5914119" y="2134440"/>
            <a:ext cx="12083976" cy="53815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729"/>
              </a:lnSpc>
            </a:pPr>
            <a:r>
              <a:rPr lang="en-US" sz="3378" b="true">
                <a:solidFill>
                  <a:srgbClr val="000000"/>
                </a:solidFill>
                <a:latin typeface="Cocomat Pro Bold"/>
                <a:ea typeface="Cocomat Pro Bold"/>
                <a:cs typeface="Cocomat Pro Bold"/>
                <a:sym typeface="Cocomat Pro Bold"/>
              </a:rPr>
              <a:t>Se crearon 2 triggers:</a:t>
            </a:r>
          </a:p>
          <a:p>
            <a:pPr algn="just">
              <a:lnSpc>
                <a:spcPts val="4729"/>
              </a:lnSpc>
            </a:pPr>
          </a:p>
          <a:p>
            <a:pPr algn="just">
              <a:lnSpc>
                <a:spcPts val="4729"/>
              </a:lnSpc>
            </a:pPr>
            <a:r>
              <a:rPr lang="en-US" b="true" sz="3378" u="sng">
                <a:solidFill>
                  <a:srgbClr val="000000"/>
                </a:solidFill>
                <a:latin typeface="Cocomat Pro Bold"/>
                <a:ea typeface="Cocomat Pro Bold"/>
                <a:cs typeface="Cocomat Pro Bold"/>
                <a:sym typeface="Cocomat Pro Bold"/>
              </a:rPr>
              <a:t>Trigger1:</a:t>
            </a:r>
            <a:r>
              <a:rPr lang="en-US" sz="3378" b="true">
                <a:solidFill>
                  <a:srgbClr val="000000"/>
                </a:solidFill>
                <a:latin typeface="Cocomat Pro Bold"/>
                <a:ea typeface="Cocomat Pro Bold"/>
                <a:cs typeface="Cocomat Pro Bold"/>
                <a:sym typeface="Cocomat Pro Bold"/>
              </a:rPr>
              <a:t> Se agrega una nueva tabla llamada nuevas_ventas_insert para luego crear un trigger y colocar un mensaje de aviso de nueva venta, en el que indica el importe total y medio de pago. </a:t>
            </a:r>
          </a:p>
          <a:p>
            <a:pPr algn="just">
              <a:lnSpc>
                <a:spcPts val="4729"/>
              </a:lnSpc>
            </a:pPr>
          </a:p>
          <a:p>
            <a:pPr algn="just">
              <a:lnSpc>
                <a:spcPts val="4729"/>
              </a:lnSpc>
              <a:spcBef>
                <a:spcPct val="0"/>
              </a:spcBef>
            </a:pPr>
            <a:r>
              <a:rPr lang="en-US" b="true" sz="3378" u="sng">
                <a:solidFill>
                  <a:srgbClr val="000000"/>
                </a:solidFill>
                <a:latin typeface="Cocomat Pro Bold"/>
                <a:ea typeface="Cocomat Pro Bold"/>
                <a:cs typeface="Cocomat Pro Bold"/>
                <a:sym typeface="Cocomat Pro Bold"/>
              </a:rPr>
              <a:t>Trigger 2:</a:t>
            </a:r>
            <a:r>
              <a:rPr lang="en-US" b="true" sz="3378">
                <a:solidFill>
                  <a:srgbClr val="000000"/>
                </a:solidFill>
                <a:latin typeface="Cocomat Pro Bold"/>
                <a:ea typeface="Cocomat Pro Bold"/>
                <a:cs typeface="Cocomat Pro Bold"/>
                <a:sym typeface="Cocomat Pro Bold"/>
              </a:rPr>
              <a:t> Se creó con el fin de poder dar un error cada vez que intenten eliminar un registro. </a:t>
            </a:r>
          </a:p>
        </p:txBody>
      </p:sp>
      <p:sp>
        <p:nvSpPr>
          <p:cNvPr name="Freeform 5" id="5">
            <a:hlinkClick r:id="rId5" action="ppaction://hlinksldjump"/>
          </p:cNvPr>
          <p:cNvSpPr/>
          <p:nvPr/>
        </p:nvSpPr>
        <p:spPr>
          <a:xfrm flipH="false" flipV="false" rot="0">
            <a:off x="16616923" y="8935298"/>
            <a:ext cx="920566" cy="920566"/>
          </a:xfrm>
          <a:custGeom>
            <a:avLst/>
            <a:gdLst/>
            <a:ahLst/>
            <a:cxnLst/>
            <a:rect r="r" b="b" t="t" l="l"/>
            <a:pathLst>
              <a:path h="920566" w="920566">
                <a:moveTo>
                  <a:pt x="0" y="0"/>
                </a:moveTo>
                <a:lnTo>
                  <a:pt x="920566" y="0"/>
                </a:lnTo>
                <a:lnTo>
                  <a:pt x="920566" y="920565"/>
                </a:lnTo>
                <a:lnTo>
                  <a:pt x="0" y="92056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DAGgDj7q-UA</dc:identifier>
  <dcterms:modified xsi:type="dcterms:W3CDTF">2011-08-01T06:04:30Z</dcterms:modified>
  <cp:revision>1</cp:revision>
  <dc:title>Cafetería_MarianelaFelipe</dc:title>
</cp:coreProperties>
</file>